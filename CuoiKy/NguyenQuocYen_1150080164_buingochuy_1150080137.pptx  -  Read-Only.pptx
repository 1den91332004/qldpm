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8288000" cy="10287000"/>
  <p:notesSz cx="6858000" cy="9144000"/>
  <p:embeddedFontLst>
    <p:embeddedFont>
      <p:font typeface="Asap" panose="020B0604020202020204" charset="0"/>
      <p:bold r:id="rId37"/>
      <p:boldItalic r:id="rId38"/>
    </p:embeddedFont>
    <p:embeddedFont>
      <p:font typeface="Asap Medium" panose="020B0604020202020204" charset="0"/>
      <p:regular r:id="rId39"/>
      <p:bold r:id="rId40"/>
      <p:italic r:id="rId41"/>
      <p:boldItalic r:id="rId42"/>
    </p:embeddedFont>
    <p:embeddedFont>
      <p:font typeface="Asap SemiBold" panose="020B0604020202020204" charset="0"/>
      <p:regular r:id="rId43"/>
      <p:bold r:id="rId44"/>
      <p:italic r:id="rId45"/>
      <p:boldItalic r:id="rId46"/>
    </p:embeddedFont>
    <p:embeddedFont>
      <p:font typeface="Noto Sans" panose="020B0502040204020203" pitchFamily="34" charset="0"/>
      <p:regular r:id="rId47"/>
      <p:bold r:id="rId48"/>
      <p:italic r:id="rId49"/>
      <p:boldItalic r:id="rId50"/>
    </p:embeddedFont>
    <p:embeddedFont>
      <p:font typeface="Play" panose="020B0604020202020204" charset="0"/>
      <p:regular r:id="rId51"/>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94" autoAdjust="0"/>
  </p:normalViewPr>
  <p:slideViewPr>
    <p:cSldViewPr snapToGrid="0">
      <p:cViewPr varScale="1">
        <p:scale>
          <a:sx n="50" d="100"/>
          <a:sy n="50" d="100"/>
        </p:scale>
        <p:origin x="898" y="29"/>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2" name="Google Shape;362;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9" name="Google Shape;369;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8" name="Google Shape;408;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 name="Google Shape;421;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0" y="2467802"/>
            <a:ext cx="14687504" cy="7819198"/>
          </a:xfrm>
          <a:prstGeom prst="rect">
            <a:avLst/>
          </a:prstGeom>
          <a:solidFill>
            <a:srgbClr val="183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85;p13"/>
          <p:cNvSpPr/>
          <p:nvPr/>
        </p:nvSpPr>
        <p:spPr>
          <a:xfrm>
            <a:off x="9144001" y="0"/>
            <a:ext cx="12207240" cy="10697402"/>
          </a:xfrm>
          <a:custGeom>
            <a:avLst/>
            <a:gdLst/>
            <a:ahLst/>
            <a:cxnLst/>
            <a:rect l="l" t="t" r="r" b="b"/>
            <a:pathLst>
              <a:path w="4282440" h="3708400" extrusionOk="0">
                <a:moveTo>
                  <a:pt x="3211830" y="0"/>
                </a:moveTo>
                <a:lnTo>
                  <a:pt x="1070610" y="0"/>
                </a:lnTo>
                <a:lnTo>
                  <a:pt x="0" y="1854200"/>
                </a:lnTo>
                <a:lnTo>
                  <a:pt x="1070610" y="3708400"/>
                </a:lnTo>
                <a:lnTo>
                  <a:pt x="3211830" y="3708400"/>
                </a:lnTo>
                <a:lnTo>
                  <a:pt x="4282440" y="1854200"/>
                </a:lnTo>
                <a:close/>
              </a:path>
            </a:pathLst>
          </a:custGeom>
          <a:blipFill rotWithShape="1">
            <a:blip r:embed="rId3">
              <a:alphaModFix/>
            </a:blip>
            <a:stretch>
              <a:fillRect l="-14944" r="-14943"/>
            </a:stretch>
          </a:blipFill>
          <a:ln>
            <a:noFill/>
          </a:ln>
        </p:spPr>
        <p:txBody>
          <a:bodyPr/>
          <a:lstStyle/>
          <a:p>
            <a:endParaRPr lang="en-US" dirty="0"/>
          </a:p>
        </p:txBody>
      </p:sp>
      <p:sp>
        <p:nvSpPr>
          <p:cNvPr id="86" name="Google Shape;86;p13"/>
          <p:cNvSpPr txBox="1"/>
          <p:nvPr/>
        </p:nvSpPr>
        <p:spPr>
          <a:xfrm>
            <a:off x="2714243" y="979135"/>
            <a:ext cx="3165747" cy="573291"/>
          </a:xfrm>
          <a:prstGeom prst="rect">
            <a:avLst/>
          </a:prstGeom>
          <a:noFill/>
          <a:ln>
            <a:noFill/>
          </a:ln>
        </p:spPr>
        <p:txBody>
          <a:bodyPr spcFirstLastPara="1" wrap="square" lIns="0" tIns="0" rIns="0" bIns="0" anchor="t" anchorCtr="0">
            <a:spAutoFit/>
          </a:bodyPr>
          <a:lstStyle/>
          <a:p>
            <a:pPr marL="0" marR="0" lvl="0" indent="0" algn="l" rtl="0">
              <a:lnSpc>
                <a:spcPct val="140012"/>
              </a:lnSpc>
              <a:spcBef>
                <a:spcPts val="0"/>
              </a:spcBef>
              <a:spcAft>
                <a:spcPts val="0"/>
              </a:spcAft>
              <a:buNone/>
            </a:pPr>
            <a:r>
              <a:rPr lang="en-US" sz="3304" b="1" i="0" u="none" strike="noStrike" cap="none">
                <a:solidFill>
                  <a:srgbClr val="000000"/>
                </a:solidFill>
                <a:latin typeface="Asap"/>
                <a:ea typeface="Asap"/>
                <a:cs typeface="Asap"/>
                <a:sym typeface="Asap"/>
              </a:rPr>
              <a:t>ĐỀ TÀI </a:t>
            </a:r>
            <a:endParaRPr/>
          </a:p>
        </p:txBody>
      </p:sp>
      <p:sp>
        <p:nvSpPr>
          <p:cNvPr id="87" name="Google Shape;87;p13"/>
          <p:cNvSpPr/>
          <p:nvPr/>
        </p:nvSpPr>
        <p:spPr>
          <a:xfrm>
            <a:off x="1028700" y="923925"/>
            <a:ext cx="1330919" cy="759911"/>
          </a:xfrm>
          <a:custGeom>
            <a:avLst/>
            <a:gdLst/>
            <a:ahLst/>
            <a:cxnLst/>
            <a:rect l="l" t="t" r="r" b="b"/>
            <a:pathLst>
              <a:path w="1330919" h="759911" extrusionOk="0">
                <a:moveTo>
                  <a:pt x="0" y="0"/>
                </a:moveTo>
                <a:lnTo>
                  <a:pt x="1330919" y="0"/>
                </a:lnTo>
                <a:lnTo>
                  <a:pt x="1330919" y="759911"/>
                </a:lnTo>
                <a:lnTo>
                  <a:pt x="0" y="759911"/>
                </a:lnTo>
                <a:lnTo>
                  <a:pt x="0" y="0"/>
                </a:lnTo>
                <a:close/>
              </a:path>
            </a:pathLst>
          </a:custGeom>
          <a:blipFill rotWithShape="1">
            <a:blip r:embed="rId4">
              <a:alphaModFix/>
            </a:blip>
            <a:stretch>
              <a:fillRect t="-51572"/>
            </a:stretch>
          </a:blipFill>
          <a:ln>
            <a:noFill/>
          </a:ln>
        </p:spPr>
        <p:txBody>
          <a:bodyPr/>
          <a:lstStyle/>
          <a:p>
            <a:endParaRPr lang="en-US"/>
          </a:p>
        </p:txBody>
      </p:sp>
      <p:grpSp>
        <p:nvGrpSpPr>
          <p:cNvPr id="88" name="Google Shape;88;p13"/>
          <p:cNvGrpSpPr/>
          <p:nvPr/>
        </p:nvGrpSpPr>
        <p:grpSpPr>
          <a:xfrm>
            <a:off x="1028700" y="1819624"/>
            <a:ext cx="8908958" cy="6960418"/>
            <a:chOff x="0" y="-76200"/>
            <a:chExt cx="11878611" cy="9280558"/>
          </a:xfrm>
        </p:grpSpPr>
        <p:sp>
          <p:nvSpPr>
            <p:cNvPr id="89" name="Google Shape;89;p13"/>
            <p:cNvSpPr txBox="1"/>
            <p:nvPr/>
          </p:nvSpPr>
          <p:spPr>
            <a:xfrm>
              <a:off x="0" y="1303279"/>
              <a:ext cx="11878611" cy="6675107"/>
            </a:xfrm>
            <a:prstGeom prst="rect">
              <a:avLst/>
            </a:prstGeom>
            <a:noFill/>
            <a:ln>
              <a:noFill/>
            </a:ln>
          </p:spPr>
          <p:txBody>
            <a:bodyPr spcFirstLastPara="1" wrap="square" lIns="0" tIns="0" rIns="0" bIns="0" anchor="t" anchorCtr="0">
              <a:spAutoFit/>
            </a:bodyPr>
            <a:lstStyle/>
            <a:p>
              <a:pPr marL="0" marR="0" lvl="0" indent="0" algn="l" rtl="0">
                <a:lnSpc>
                  <a:spcPct val="133000"/>
                </a:lnSpc>
                <a:spcBef>
                  <a:spcPts val="0"/>
                </a:spcBef>
                <a:spcAft>
                  <a:spcPts val="0"/>
                </a:spcAft>
                <a:buNone/>
              </a:pPr>
              <a:r>
                <a:rPr lang="en-US" sz="6000" b="1" i="0" u="none" strike="noStrike" cap="none" dirty="0">
                  <a:solidFill>
                    <a:srgbClr val="FFFFFF"/>
                  </a:solidFill>
                  <a:latin typeface="Asap"/>
                  <a:ea typeface="Asap"/>
                  <a:cs typeface="Asap"/>
                  <a:sym typeface="Asap"/>
                </a:rPr>
                <a:t>QUẢN LÝ VÀ ĐIỂM DANH SINH VIÊN ĐĂNG KÝ THAM GIA CÁC HOẠT ĐỘNG KHOA CNTT</a:t>
              </a:r>
              <a:endParaRPr dirty="0"/>
            </a:p>
          </p:txBody>
        </p:sp>
        <p:sp>
          <p:nvSpPr>
            <p:cNvPr id="90" name="Google Shape;90;p13"/>
            <p:cNvSpPr txBox="1"/>
            <p:nvPr/>
          </p:nvSpPr>
          <p:spPr>
            <a:xfrm>
              <a:off x="0" y="7911710"/>
              <a:ext cx="11878611" cy="129264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0" i="0" u="none" strike="noStrike" cap="none" dirty="0">
                  <a:solidFill>
                    <a:srgbClr val="FFFFFF"/>
                  </a:solidFill>
                  <a:latin typeface="Asap"/>
                  <a:ea typeface="Asap"/>
                  <a:cs typeface="Asap"/>
                  <a:sym typeface="Asap"/>
                </a:rPr>
                <a:t>Báo </a:t>
              </a:r>
              <a:r>
                <a:rPr lang="en-US" sz="2800" b="0" i="0" u="none" strike="noStrike" cap="none" dirty="0" err="1">
                  <a:solidFill>
                    <a:srgbClr val="FFFFFF"/>
                  </a:solidFill>
                  <a:latin typeface="Asap"/>
                  <a:ea typeface="Asap"/>
                  <a:cs typeface="Asap"/>
                  <a:sym typeface="Asap"/>
                </a:rPr>
                <a:t>cáo</a:t>
              </a:r>
              <a:r>
                <a:rPr lang="en-US" sz="2800" b="0" i="0" u="none" strike="noStrike" cap="none" dirty="0">
                  <a:solidFill>
                    <a:srgbClr val="FFFFFF"/>
                  </a:solidFill>
                  <a:latin typeface="Asap"/>
                  <a:ea typeface="Asap"/>
                  <a:cs typeface="Asap"/>
                  <a:sym typeface="Asap"/>
                </a:rPr>
                <a:t> </a:t>
              </a:r>
              <a:r>
                <a:rPr lang="en-US" sz="2800" b="0" i="0" u="none" strike="noStrike" cap="none" dirty="0" err="1">
                  <a:solidFill>
                    <a:srgbClr val="FFFFFF"/>
                  </a:solidFill>
                  <a:latin typeface="Asap"/>
                  <a:ea typeface="Asap"/>
                  <a:cs typeface="Asap"/>
                  <a:sym typeface="Asap"/>
                </a:rPr>
                <a:t>môn</a:t>
              </a:r>
              <a:r>
                <a:rPr lang="en-US" sz="2800" b="0" i="0" u="none" strike="noStrike" cap="none" dirty="0">
                  <a:solidFill>
                    <a:srgbClr val="FFFFFF"/>
                  </a:solidFill>
                  <a:latin typeface="Asap"/>
                  <a:ea typeface="Asap"/>
                  <a:cs typeface="Asap"/>
                  <a:sym typeface="Asap"/>
                </a:rPr>
                <a:t>: Quản </a:t>
              </a:r>
              <a:r>
                <a:rPr lang="en-US" sz="2800" b="0" i="0" u="none" strike="noStrike" cap="none" dirty="0" err="1">
                  <a:solidFill>
                    <a:srgbClr val="FFFFFF"/>
                  </a:solidFill>
                  <a:latin typeface="Asap"/>
                  <a:ea typeface="Asap"/>
                  <a:cs typeface="Asap"/>
                  <a:sym typeface="Asap"/>
                </a:rPr>
                <a:t>lý</a:t>
              </a:r>
              <a:r>
                <a:rPr lang="en-US" sz="2800" b="0" i="0" u="none" strike="noStrike" cap="none" dirty="0">
                  <a:solidFill>
                    <a:srgbClr val="FFFFFF"/>
                  </a:solidFill>
                  <a:latin typeface="Asap"/>
                  <a:ea typeface="Asap"/>
                  <a:cs typeface="Asap"/>
                  <a:sym typeface="Asap"/>
                </a:rPr>
                <a:t> </a:t>
              </a:r>
              <a:r>
                <a:rPr lang="en-US" sz="2800" b="0" i="0" u="none" strike="noStrike" cap="none" dirty="0" err="1">
                  <a:solidFill>
                    <a:srgbClr val="FFFFFF"/>
                  </a:solidFill>
                  <a:latin typeface="Asap"/>
                  <a:ea typeface="Asap"/>
                  <a:cs typeface="Asap"/>
                  <a:sym typeface="Asap"/>
                </a:rPr>
                <a:t>dự</a:t>
              </a:r>
              <a:r>
                <a:rPr lang="en-US" sz="2800" b="0" i="0" u="none" strike="noStrike" cap="none" dirty="0">
                  <a:solidFill>
                    <a:srgbClr val="FFFFFF"/>
                  </a:solidFill>
                  <a:latin typeface="Asap"/>
                  <a:ea typeface="Asap"/>
                  <a:cs typeface="Asap"/>
                  <a:sym typeface="Asap"/>
                </a:rPr>
                <a:t> </a:t>
              </a:r>
              <a:r>
                <a:rPr lang="en-US" sz="2800" b="0" i="0" u="none" strike="noStrike" cap="none" dirty="0" err="1">
                  <a:solidFill>
                    <a:srgbClr val="FFFFFF"/>
                  </a:solidFill>
                  <a:latin typeface="Asap"/>
                  <a:ea typeface="Asap"/>
                  <a:cs typeface="Asap"/>
                  <a:sym typeface="Asap"/>
                </a:rPr>
                <a:t>án</a:t>
              </a:r>
              <a:r>
                <a:rPr lang="en-US" sz="2800" b="0" i="0" u="none" strike="noStrike" cap="none" dirty="0">
                  <a:solidFill>
                    <a:srgbClr val="FFFFFF"/>
                  </a:solidFill>
                  <a:latin typeface="Asap"/>
                  <a:ea typeface="Asap"/>
                  <a:cs typeface="Asap"/>
                  <a:sym typeface="Asap"/>
                </a:rPr>
                <a:t> </a:t>
              </a:r>
              <a:r>
                <a:rPr lang="en-US" sz="2800" b="0" i="0" u="none" strike="noStrike" cap="none" dirty="0" err="1">
                  <a:solidFill>
                    <a:srgbClr val="FFFFFF"/>
                  </a:solidFill>
                  <a:latin typeface="Asap"/>
                  <a:ea typeface="Asap"/>
                  <a:cs typeface="Asap"/>
                  <a:sym typeface="Asap"/>
                </a:rPr>
                <a:t>phần</a:t>
              </a:r>
              <a:r>
                <a:rPr lang="en-US" sz="2800" b="0" i="0" u="none" strike="noStrike" cap="none" dirty="0">
                  <a:solidFill>
                    <a:srgbClr val="FFFFFF"/>
                  </a:solidFill>
                  <a:latin typeface="Asap"/>
                  <a:ea typeface="Asap"/>
                  <a:cs typeface="Asap"/>
                  <a:sym typeface="Asap"/>
                </a:rPr>
                <a:t> </a:t>
              </a:r>
              <a:r>
                <a:rPr lang="en-US" sz="2800" b="0" i="0" u="none" strike="noStrike" cap="none" dirty="0" err="1">
                  <a:solidFill>
                    <a:srgbClr val="FFFFFF"/>
                  </a:solidFill>
                  <a:latin typeface="Asap"/>
                  <a:ea typeface="Asap"/>
                  <a:cs typeface="Asap"/>
                  <a:sym typeface="Asap"/>
                </a:rPr>
                <a:t>mềm</a:t>
              </a:r>
              <a:r>
                <a:rPr lang="en-US" sz="2800" b="0" i="0" u="none" strike="noStrike" cap="none" dirty="0">
                  <a:solidFill>
                    <a:srgbClr val="FFFFFF"/>
                  </a:solidFill>
                  <a:latin typeface="Asap"/>
                  <a:ea typeface="Asap"/>
                  <a:cs typeface="Asap"/>
                  <a:sym typeface="Asap"/>
                </a:rPr>
                <a:t>. </a:t>
              </a:r>
              <a:endParaRPr dirty="0"/>
            </a:p>
            <a:p>
              <a:pPr marL="0" marR="0" lvl="0" indent="0" algn="l" rtl="0">
                <a:lnSpc>
                  <a:spcPct val="140000"/>
                </a:lnSpc>
                <a:spcBef>
                  <a:spcPts val="0"/>
                </a:spcBef>
                <a:spcAft>
                  <a:spcPts val="0"/>
                </a:spcAft>
                <a:buNone/>
              </a:pPr>
              <a:r>
                <a:rPr lang="en-US" sz="2800" b="0" i="0" u="none" strike="noStrike" cap="none" dirty="0" err="1">
                  <a:solidFill>
                    <a:srgbClr val="FFFFFF"/>
                  </a:solidFill>
                  <a:latin typeface="Asap"/>
                  <a:ea typeface="Asap"/>
                  <a:cs typeface="Asap"/>
                  <a:sym typeface="Asap"/>
                </a:rPr>
                <a:t>Trình</a:t>
              </a:r>
              <a:r>
                <a:rPr lang="en-US" sz="2800" b="0" i="0" u="none" strike="noStrike" cap="none" dirty="0">
                  <a:solidFill>
                    <a:srgbClr val="FFFFFF"/>
                  </a:solidFill>
                  <a:latin typeface="Asap"/>
                  <a:ea typeface="Asap"/>
                  <a:cs typeface="Asap"/>
                  <a:sym typeface="Asap"/>
                </a:rPr>
                <a:t> </a:t>
              </a:r>
              <a:r>
                <a:rPr lang="en-US" sz="2800" b="0" i="0" u="none" strike="noStrike" cap="none" dirty="0" err="1">
                  <a:solidFill>
                    <a:srgbClr val="FFFFFF"/>
                  </a:solidFill>
                  <a:latin typeface="Asap"/>
                  <a:ea typeface="Asap"/>
                  <a:cs typeface="Asap"/>
                  <a:sym typeface="Asap"/>
                </a:rPr>
                <a:t>bày</a:t>
              </a:r>
              <a:r>
                <a:rPr lang="en-US" sz="2800" b="0" i="0" u="none" strike="noStrike" cap="none" dirty="0">
                  <a:solidFill>
                    <a:srgbClr val="FFFFFF"/>
                  </a:solidFill>
                  <a:latin typeface="Asap"/>
                  <a:ea typeface="Asap"/>
                  <a:cs typeface="Asap"/>
                  <a:sym typeface="Asap"/>
                </a:rPr>
                <a:t> </a:t>
              </a:r>
              <a:r>
                <a:rPr lang="en-US" sz="2800" b="0" i="0" u="none" strike="noStrike" cap="none" dirty="0" err="1">
                  <a:solidFill>
                    <a:srgbClr val="FFFFFF"/>
                  </a:solidFill>
                  <a:latin typeface="Asap"/>
                  <a:ea typeface="Asap"/>
                  <a:cs typeface="Asap"/>
                  <a:sym typeface="Asap"/>
                </a:rPr>
                <a:t>bởi</a:t>
              </a:r>
              <a:r>
                <a:rPr lang="en-US" sz="2800" b="0" i="0" u="none" strike="noStrike" cap="none" dirty="0">
                  <a:solidFill>
                    <a:srgbClr val="FFFFFF"/>
                  </a:solidFill>
                  <a:latin typeface="Asap"/>
                  <a:ea typeface="Asap"/>
                  <a:cs typeface="Asap"/>
                  <a:sym typeface="Asap"/>
                </a:rPr>
                <a:t> </a:t>
              </a:r>
              <a:r>
                <a:rPr lang="en-US" sz="2800" b="0" i="0" u="none" strike="noStrike" cap="none" dirty="0" err="1">
                  <a:solidFill>
                    <a:srgbClr val="FFFFFF"/>
                  </a:solidFill>
                  <a:latin typeface="Asap"/>
                  <a:ea typeface="Asap"/>
                  <a:cs typeface="Asap"/>
                  <a:sym typeface="Asap"/>
                </a:rPr>
                <a:t>nhóm</a:t>
              </a:r>
              <a:r>
                <a:rPr lang="en-US" sz="2800" b="0" i="0" u="none" strike="noStrike" cap="none" dirty="0">
                  <a:solidFill>
                    <a:srgbClr val="FFFFFF"/>
                  </a:solidFill>
                  <a:latin typeface="Asap"/>
                  <a:ea typeface="Asap"/>
                  <a:cs typeface="Asap"/>
                  <a:sym typeface="Asap"/>
                </a:rPr>
                <a:t>: Bùi Ngọc Huy, Nguyễn Quốc Yên </a:t>
              </a:r>
              <a:endParaRPr dirty="0"/>
            </a:p>
          </p:txBody>
        </p:sp>
        <p:sp>
          <p:nvSpPr>
            <p:cNvPr id="91" name="Google Shape;91;p13"/>
            <p:cNvSpPr txBox="1"/>
            <p:nvPr/>
          </p:nvSpPr>
          <p:spPr>
            <a:xfrm>
              <a:off x="0" y="-76200"/>
              <a:ext cx="10820400" cy="827194"/>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699" b="0" i="0" u="none" strike="noStrike" cap="none" dirty="0">
                  <a:solidFill>
                    <a:srgbClr val="FFFFFF"/>
                  </a:solidFill>
                  <a:latin typeface="Asap"/>
                  <a:ea typeface="Asap"/>
                  <a:cs typeface="Asap"/>
                  <a:sym typeface="Asap"/>
                </a:rPr>
                <a:t>ỨNG DỤNG </a:t>
              </a:r>
              <a:endParaRPr dirty="0"/>
            </a:p>
          </p:txBody>
        </p:sp>
      </p:grpSp>
      <p:sp>
        <p:nvSpPr>
          <p:cNvPr id="92" name="Google Shape;92;p13"/>
          <p:cNvSpPr txBox="1"/>
          <p:nvPr/>
        </p:nvSpPr>
        <p:spPr>
          <a:xfrm>
            <a:off x="1028700" y="8927338"/>
            <a:ext cx="5649813" cy="435737"/>
          </a:xfrm>
          <a:prstGeom prst="rect">
            <a:avLst/>
          </a:prstGeom>
          <a:noFill/>
          <a:ln>
            <a:noFill/>
          </a:ln>
        </p:spPr>
        <p:txBody>
          <a:bodyPr spcFirstLastPara="1" wrap="square" lIns="0" tIns="0" rIns="0" bIns="0" anchor="t" anchorCtr="0">
            <a:spAutoFit/>
          </a:bodyPr>
          <a:lstStyle/>
          <a:p>
            <a:pPr marL="0" marR="0" lvl="0" indent="0" algn="ctr" rtl="0">
              <a:lnSpc>
                <a:spcPct val="118006"/>
              </a:lnSpc>
              <a:spcBef>
                <a:spcPts val="0"/>
              </a:spcBef>
              <a:spcAft>
                <a:spcPts val="0"/>
              </a:spcAft>
              <a:buNone/>
            </a:pPr>
            <a:r>
              <a:rPr lang="en-US" sz="2799" b="0" i="0" u="none" strike="noStrike" cap="none" dirty="0" err="1">
                <a:solidFill>
                  <a:srgbClr val="FFFFFF"/>
                </a:solidFill>
                <a:latin typeface="Asap"/>
                <a:ea typeface="Asap"/>
                <a:cs typeface="Asap"/>
                <a:sym typeface="Asap"/>
              </a:rPr>
              <a:t>Giảng</a:t>
            </a:r>
            <a:r>
              <a:rPr lang="en-US" sz="2799" b="0" i="0" u="none" strike="noStrike" cap="none" dirty="0">
                <a:solidFill>
                  <a:srgbClr val="FFFFFF"/>
                </a:solidFill>
                <a:latin typeface="Asap"/>
                <a:ea typeface="Asap"/>
                <a:cs typeface="Asap"/>
                <a:sym typeface="Asap"/>
              </a:rPr>
              <a:t> </a:t>
            </a:r>
            <a:r>
              <a:rPr lang="en-US" sz="2799" b="0" i="0" u="none" strike="noStrike" cap="none" dirty="0" err="1">
                <a:solidFill>
                  <a:srgbClr val="FFFFFF"/>
                </a:solidFill>
                <a:latin typeface="Asap"/>
                <a:ea typeface="Asap"/>
                <a:cs typeface="Asap"/>
                <a:sym typeface="Asap"/>
              </a:rPr>
              <a:t>viên</a:t>
            </a:r>
            <a:r>
              <a:rPr lang="en-US" sz="2799" b="0" i="0" u="none" strike="noStrike" cap="none" dirty="0">
                <a:solidFill>
                  <a:srgbClr val="FFFFFF"/>
                </a:solidFill>
                <a:latin typeface="Asap"/>
                <a:ea typeface="Asap"/>
                <a:cs typeface="Asap"/>
                <a:sym typeface="Asap"/>
              </a:rPr>
              <a:t>: </a:t>
            </a:r>
            <a:r>
              <a:rPr lang="en-US" sz="2799" b="0" i="0" u="none" strike="noStrike" cap="none" dirty="0" err="1">
                <a:solidFill>
                  <a:srgbClr val="FFFFFF"/>
                </a:solidFill>
                <a:latin typeface="Asap"/>
                <a:ea typeface="Asap"/>
                <a:cs typeface="Asap"/>
                <a:sym typeface="Asap"/>
              </a:rPr>
              <a:t>ThS</a:t>
            </a:r>
            <a:r>
              <a:rPr lang="en-US" sz="2799" b="0" i="0" u="none" strike="noStrike" cap="none" dirty="0">
                <a:solidFill>
                  <a:srgbClr val="FFFFFF"/>
                </a:solidFill>
                <a:latin typeface="Asap"/>
                <a:ea typeface="Asap"/>
                <a:cs typeface="Asap"/>
                <a:sym typeface="Asap"/>
              </a:rPr>
              <a:t>. Phạm </a:t>
            </a:r>
            <a:r>
              <a:rPr lang="en-US" sz="2799" b="0" i="0" u="none" strike="noStrike" cap="none" dirty="0" err="1">
                <a:solidFill>
                  <a:srgbClr val="FFFFFF"/>
                </a:solidFill>
                <a:latin typeface="Asap"/>
                <a:ea typeface="Asap"/>
                <a:cs typeface="Asap"/>
                <a:sym typeface="Asap"/>
              </a:rPr>
              <a:t>Trọng</a:t>
            </a:r>
            <a:r>
              <a:rPr lang="en-US" sz="2799" b="0" i="0" u="none" strike="noStrike" cap="none" dirty="0">
                <a:solidFill>
                  <a:srgbClr val="FFFFFF"/>
                </a:solidFill>
                <a:latin typeface="Asap"/>
                <a:ea typeface="Asap"/>
                <a:cs typeface="Asap"/>
                <a:sym typeface="Asap"/>
              </a:rPr>
              <a:t> Huynh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4"/>
          <p:cNvSpPr/>
          <p:nvPr/>
        </p:nvSpPr>
        <p:spPr>
          <a:xfrm>
            <a:off x="5495022" y="0"/>
            <a:ext cx="17211375" cy="13842185"/>
          </a:xfrm>
          <a:custGeom>
            <a:avLst/>
            <a:gdLst/>
            <a:ahLst/>
            <a:cxnLst/>
            <a:rect l="l" t="t" r="r" b="b"/>
            <a:pathLst>
              <a:path w="6679670" h="5372100" extrusionOk="0">
                <a:moveTo>
                  <a:pt x="5129000" y="0"/>
                </a:moveTo>
                <a:lnTo>
                  <a:pt x="1550670" y="0"/>
                </a:lnTo>
                <a:lnTo>
                  <a:pt x="0" y="2686050"/>
                </a:lnTo>
                <a:lnTo>
                  <a:pt x="1550670" y="5372100"/>
                </a:lnTo>
                <a:lnTo>
                  <a:pt x="5129000" y="5372100"/>
                </a:lnTo>
                <a:lnTo>
                  <a:pt x="6679670" y="2686050"/>
                </a:lnTo>
                <a:lnTo>
                  <a:pt x="5129000" y="0"/>
                </a:lnTo>
                <a:close/>
              </a:path>
            </a:pathLst>
          </a:custGeom>
          <a:solidFill>
            <a:srgbClr val="A066CB"/>
          </a:solidFill>
          <a:ln>
            <a:noFill/>
          </a:ln>
        </p:spPr>
        <p:txBody>
          <a:bodyPr/>
          <a:lstStyle/>
          <a:p>
            <a:endParaRPr lang="en-US"/>
          </a:p>
        </p:txBody>
      </p:sp>
      <p:grpSp>
        <p:nvGrpSpPr>
          <p:cNvPr id="98" name="Google Shape;98;p14"/>
          <p:cNvGrpSpPr/>
          <p:nvPr/>
        </p:nvGrpSpPr>
        <p:grpSpPr>
          <a:xfrm>
            <a:off x="1028700" y="1028700"/>
            <a:ext cx="4722029" cy="759911"/>
            <a:chOff x="0" y="0"/>
            <a:chExt cx="6296040" cy="1013215"/>
          </a:xfrm>
        </p:grpSpPr>
        <p:sp>
          <p:nvSpPr>
            <p:cNvPr id="99" name="Google Shape;99;p14"/>
            <p:cNvSpPr txBox="1"/>
            <p:nvPr/>
          </p:nvSpPr>
          <p:spPr>
            <a:xfrm>
              <a:off x="2304840" y="24006"/>
              <a:ext cx="3991200" cy="743621"/>
            </a:xfrm>
            <a:prstGeom prst="rect">
              <a:avLst/>
            </a:prstGeom>
            <a:noFill/>
            <a:ln>
              <a:noFill/>
            </a:ln>
          </p:spPr>
          <p:txBody>
            <a:bodyPr spcFirstLastPara="1" wrap="square" lIns="0" tIns="0" rIns="0" bIns="0" anchor="t" anchorCtr="0">
              <a:spAutoFit/>
            </a:bodyPr>
            <a:lstStyle/>
            <a:p>
              <a:pPr marL="0" marR="0" lvl="0" indent="0" algn="l" rtl="0">
                <a:lnSpc>
                  <a:spcPct val="256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 name="Google Shape;100;p14"/>
            <p:cNvSpPr/>
            <p:nvPr/>
          </p:nvSpPr>
          <p:spPr>
            <a:xfrm>
              <a:off x="0" y="0"/>
              <a:ext cx="1774559" cy="1013215"/>
            </a:xfrm>
            <a:custGeom>
              <a:avLst/>
              <a:gdLst/>
              <a:ahLst/>
              <a:cxnLst/>
              <a:rect l="l" t="t" r="r" b="b"/>
              <a:pathLst>
                <a:path w="1774559" h="1013215" extrusionOk="0">
                  <a:moveTo>
                    <a:pt x="0" y="0"/>
                  </a:moveTo>
                  <a:lnTo>
                    <a:pt x="1774559" y="0"/>
                  </a:lnTo>
                  <a:lnTo>
                    <a:pt x="1774559" y="1013215"/>
                  </a:lnTo>
                  <a:lnTo>
                    <a:pt x="0" y="1013215"/>
                  </a:lnTo>
                  <a:lnTo>
                    <a:pt x="0" y="0"/>
                  </a:lnTo>
                  <a:close/>
                </a:path>
              </a:pathLst>
            </a:custGeom>
            <a:blipFill rotWithShape="1">
              <a:blip r:embed="rId3">
                <a:alphaModFix/>
              </a:blip>
              <a:stretch>
                <a:fillRect t="-51572"/>
              </a:stretch>
            </a:blipFill>
            <a:ln>
              <a:noFill/>
            </a:ln>
          </p:spPr>
          <p:txBody>
            <a:bodyPr/>
            <a:lstStyle/>
            <a:p>
              <a:endParaRPr lang="en-US"/>
            </a:p>
          </p:txBody>
        </p:sp>
      </p:grpSp>
      <p:sp>
        <p:nvSpPr>
          <p:cNvPr id="101" name="Google Shape;101;p14"/>
          <p:cNvSpPr txBox="1"/>
          <p:nvPr/>
        </p:nvSpPr>
        <p:spPr>
          <a:xfrm>
            <a:off x="7390894" y="6223228"/>
            <a:ext cx="10206518" cy="1348105"/>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4100" b="1" i="0" u="none" strike="noStrike" cap="none">
                <a:solidFill>
                  <a:srgbClr val="FFFFFF"/>
                </a:solidFill>
                <a:latin typeface="Asap Medium"/>
                <a:ea typeface="Asap Medium"/>
                <a:cs typeface="Asap Medium"/>
                <a:sym typeface="Asap Medium"/>
              </a:rPr>
              <a:t>Xây dựng ứng dụng quản lý và điểm danh sinh viên</a:t>
            </a:r>
            <a:endParaRPr/>
          </a:p>
        </p:txBody>
      </p:sp>
      <p:grpSp>
        <p:nvGrpSpPr>
          <p:cNvPr id="102" name="Google Shape;102;p14"/>
          <p:cNvGrpSpPr/>
          <p:nvPr/>
        </p:nvGrpSpPr>
        <p:grpSpPr>
          <a:xfrm>
            <a:off x="-1215525" y="3441533"/>
            <a:ext cx="11090139" cy="1701967"/>
            <a:chOff x="0" y="0"/>
            <a:chExt cx="14786853" cy="2269289"/>
          </a:xfrm>
        </p:grpSpPr>
        <p:sp>
          <p:nvSpPr>
            <p:cNvPr id="103" name="Google Shape;103;p14"/>
            <p:cNvSpPr/>
            <p:nvPr/>
          </p:nvSpPr>
          <p:spPr>
            <a:xfrm rot="10800000">
              <a:off x="0" y="0"/>
              <a:ext cx="14786853" cy="2269289"/>
            </a:xfrm>
            <a:custGeom>
              <a:avLst/>
              <a:gdLst/>
              <a:ahLst/>
              <a:cxnLst/>
              <a:rect l="l" t="t" r="r" b="b"/>
              <a:pathLst>
                <a:path w="35004989" h="5372100" extrusionOk="0">
                  <a:moveTo>
                    <a:pt x="33454321" y="0"/>
                  </a:moveTo>
                  <a:lnTo>
                    <a:pt x="1550670" y="0"/>
                  </a:lnTo>
                  <a:lnTo>
                    <a:pt x="0" y="2686050"/>
                  </a:lnTo>
                  <a:lnTo>
                    <a:pt x="1550670" y="5372100"/>
                  </a:lnTo>
                  <a:lnTo>
                    <a:pt x="33454321" y="5372100"/>
                  </a:lnTo>
                  <a:lnTo>
                    <a:pt x="35004989" y="2686050"/>
                  </a:lnTo>
                  <a:lnTo>
                    <a:pt x="33454321" y="0"/>
                  </a:lnTo>
                  <a:close/>
                </a:path>
              </a:pathLst>
            </a:custGeom>
            <a:solidFill>
              <a:srgbClr val="1836B2"/>
            </a:solidFill>
            <a:ln>
              <a:noFill/>
            </a:ln>
          </p:spPr>
          <p:txBody>
            <a:bodyPr/>
            <a:lstStyle/>
            <a:p>
              <a:endParaRPr lang="en-US"/>
            </a:p>
          </p:txBody>
        </p:sp>
        <p:sp>
          <p:nvSpPr>
            <p:cNvPr id="104" name="Google Shape;104;p14"/>
            <p:cNvSpPr txBox="1"/>
            <p:nvPr/>
          </p:nvSpPr>
          <p:spPr>
            <a:xfrm>
              <a:off x="3548718" y="441436"/>
              <a:ext cx="9301337" cy="1462617"/>
            </a:xfrm>
            <a:prstGeom prst="rect">
              <a:avLst/>
            </a:prstGeom>
            <a:noFill/>
            <a:ln>
              <a:noFill/>
            </a:ln>
          </p:spPr>
          <p:txBody>
            <a:bodyPr spcFirstLastPara="1" wrap="square" lIns="0" tIns="0" rIns="0" bIns="0" anchor="t" anchorCtr="0">
              <a:spAutoFit/>
            </a:bodyPr>
            <a:lstStyle/>
            <a:p>
              <a:pPr marL="0" marR="0" lvl="0" indent="0" algn="l" rtl="0">
                <a:lnSpc>
                  <a:spcPct val="109993"/>
                </a:lnSpc>
                <a:spcBef>
                  <a:spcPts val="0"/>
                </a:spcBef>
                <a:spcAft>
                  <a:spcPts val="0"/>
                </a:spcAft>
                <a:buNone/>
              </a:pPr>
              <a:r>
                <a:rPr lang="en-US" sz="7625" b="1" i="0" u="none" strike="noStrike" cap="none">
                  <a:solidFill>
                    <a:srgbClr val="FFFFFF"/>
                  </a:solidFill>
                  <a:latin typeface="Asap SemiBold"/>
                  <a:ea typeface="Asap SemiBold"/>
                  <a:cs typeface="Asap SemiBold"/>
                  <a:sym typeface="Asap SemiBold"/>
                </a:rPr>
                <a:t>Mục tiêu đề tài</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p:nvPr/>
        </p:nvSpPr>
        <p:spPr>
          <a:xfrm>
            <a:off x="-2020637" y="-3460547"/>
            <a:ext cx="12450234" cy="6921093"/>
          </a:xfrm>
          <a:custGeom>
            <a:avLst/>
            <a:gdLst/>
            <a:ahLst/>
            <a:cxnLst/>
            <a:rect l="l" t="t" r="r" b="b"/>
            <a:pathLst>
              <a:path w="9663778" h="5372100" extrusionOk="0">
                <a:moveTo>
                  <a:pt x="8113108" y="0"/>
                </a:moveTo>
                <a:lnTo>
                  <a:pt x="1550670" y="0"/>
                </a:lnTo>
                <a:lnTo>
                  <a:pt x="0" y="2686050"/>
                </a:lnTo>
                <a:lnTo>
                  <a:pt x="1550670" y="5372100"/>
                </a:lnTo>
                <a:lnTo>
                  <a:pt x="8113108" y="5372100"/>
                </a:lnTo>
                <a:lnTo>
                  <a:pt x="9663778" y="2686050"/>
                </a:lnTo>
                <a:lnTo>
                  <a:pt x="8113108" y="0"/>
                </a:lnTo>
                <a:close/>
              </a:path>
            </a:pathLst>
          </a:custGeom>
          <a:solidFill>
            <a:srgbClr val="1836B2"/>
          </a:solidFill>
          <a:ln>
            <a:noFill/>
          </a:ln>
        </p:spPr>
        <p:txBody>
          <a:bodyPr/>
          <a:lstStyle/>
          <a:p>
            <a:endParaRPr lang="en-US"/>
          </a:p>
        </p:txBody>
      </p:sp>
      <p:grpSp>
        <p:nvGrpSpPr>
          <p:cNvPr id="110" name="Google Shape;110;p15"/>
          <p:cNvGrpSpPr/>
          <p:nvPr/>
        </p:nvGrpSpPr>
        <p:grpSpPr>
          <a:xfrm>
            <a:off x="3960640" y="1028700"/>
            <a:ext cx="15039322" cy="1701967"/>
            <a:chOff x="0" y="0"/>
            <a:chExt cx="20052429" cy="2269289"/>
          </a:xfrm>
        </p:grpSpPr>
        <p:sp>
          <p:nvSpPr>
            <p:cNvPr id="111" name="Google Shape;111;p15"/>
            <p:cNvSpPr/>
            <p:nvPr/>
          </p:nvSpPr>
          <p:spPr>
            <a:xfrm rot="10800000">
              <a:off x="0" y="0"/>
              <a:ext cx="20052429" cy="2269289"/>
            </a:xfrm>
            <a:custGeom>
              <a:avLst/>
              <a:gdLst/>
              <a:ahLst/>
              <a:cxnLst/>
              <a:rect l="l" t="t" r="r" b="b"/>
              <a:pathLst>
                <a:path w="47470216" h="5372100" extrusionOk="0">
                  <a:moveTo>
                    <a:pt x="45919544" y="0"/>
                  </a:moveTo>
                  <a:lnTo>
                    <a:pt x="1550670" y="0"/>
                  </a:lnTo>
                  <a:lnTo>
                    <a:pt x="0" y="2686050"/>
                  </a:lnTo>
                  <a:lnTo>
                    <a:pt x="1550670" y="5372100"/>
                  </a:lnTo>
                  <a:lnTo>
                    <a:pt x="45919544" y="5372100"/>
                  </a:lnTo>
                  <a:lnTo>
                    <a:pt x="47470216" y="2686050"/>
                  </a:lnTo>
                  <a:lnTo>
                    <a:pt x="45919544" y="0"/>
                  </a:lnTo>
                  <a:close/>
                </a:path>
              </a:pathLst>
            </a:custGeom>
            <a:solidFill>
              <a:srgbClr val="A066CB"/>
            </a:solidFill>
            <a:ln>
              <a:noFill/>
            </a:ln>
          </p:spPr>
          <p:txBody>
            <a:bodyPr/>
            <a:lstStyle/>
            <a:p>
              <a:endParaRPr lang="en-US"/>
            </a:p>
          </p:txBody>
        </p:sp>
        <p:sp>
          <p:nvSpPr>
            <p:cNvPr id="112" name="Google Shape;112;p15"/>
            <p:cNvSpPr txBox="1"/>
            <p:nvPr/>
          </p:nvSpPr>
          <p:spPr>
            <a:xfrm>
              <a:off x="1161554" y="574786"/>
              <a:ext cx="16467657" cy="1171575"/>
            </a:xfrm>
            <a:prstGeom prst="rect">
              <a:avLst/>
            </a:prstGeom>
            <a:noFill/>
            <a:ln>
              <a:noFill/>
            </a:ln>
          </p:spPr>
          <p:txBody>
            <a:bodyPr spcFirstLastPara="1" wrap="square" lIns="0" tIns="0" rIns="0" bIns="0" anchor="t" anchorCtr="0">
              <a:spAutoFit/>
            </a:bodyPr>
            <a:lstStyle/>
            <a:p>
              <a:pPr marL="0" marR="0" lvl="0" indent="0" algn="r" rtl="0">
                <a:lnSpc>
                  <a:spcPct val="110000"/>
                </a:lnSpc>
                <a:spcBef>
                  <a:spcPts val="0"/>
                </a:spcBef>
                <a:spcAft>
                  <a:spcPts val="0"/>
                </a:spcAft>
                <a:buNone/>
              </a:pPr>
              <a:r>
                <a:rPr lang="en-US" sz="6000" b="1" i="0" u="none" strike="noStrike" cap="none">
                  <a:solidFill>
                    <a:srgbClr val="FFFFFF"/>
                  </a:solidFill>
                  <a:latin typeface="Asap SemiBold"/>
                  <a:ea typeface="Asap SemiBold"/>
                  <a:cs typeface="Asap SemiBold"/>
                  <a:sym typeface="Asap SemiBold"/>
                </a:rPr>
                <a:t>Tổng quan</a:t>
              </a:r>
              <a:endParaRPr/>
            </a:p>
          </p:txBody>
        </p:sp>
      </p:grpSp>
      <p:grpSp>
        <p:nvGrpSpPr>
          <p:cNvPr id="113" name="Google Shape;113;p15"/>
          <p:cNvGrpSpPr/>
          <p:nvPr/>
        </p:nvGrpSpPr>
        <p:grpSpPr>
          <a:xfrm>
            <a:off x="1028700" y="5143500"/>
            <a:ext cx="4010025" cy="3829050"/>
            <a:chOff x="0" y="0"/>
            <a:chExt cx="5346700" cy="5105400"/>
          </a:xfrm>
        </p:grpSpPr>
        <p:sp>
          <p:nvSpPr>
            <p:cNvPr id="114" name="Google Shape;114;p15"/>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000000"/>
                  </a:solidFill>
                  <a:latin typeface="Arial"/>
                  <a:ea typeface="Arial"/>
                  <a:cs typeface="Arial"/>
                  <a:sym typeface="Arial"/>
                </a:rPr>
                <a:t>Thông tin dự án</a:t>
              </a:r>
              <a:endParaRPr/>
            </a:p>
          </p:txBody>
        </p:sp>
        <p:sp>
          <p:nvSpPr>
            <p:cNvPr id="115" name="Google Shape;115;p15"/>
            <p:cNvSpPr txBox="1"/>
            <p:nvPr/>
          </p:nvSpPr>
          <p:spPr>
            <a:xfrm>
              <a:off x="0" y="1244600"/>
              <a:ext cx="5346700" cy="38608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000000"/>
                  </a:solidFill>
                  <a:latin typeface="Arial"/>
                  <a:ea typeface="Arial"/>
                  <a:cs typeface="Arial"/>
                  <a:sym typeface="Arial"/>
                </a:rPr>
                <a:t>Dự án mang tên "Ứng dụng quản lý và điểm danh sinh viên đăng ký tham gia các hoạt động khoa CNTT " hướng tới việc cải thiện quản lý hoạt động sinh viên tại Khoa CNTT với sự hỗ trợ của công nghệ.</a:t>
              </a:r>
              <a:endParaRPr/>
            </a:p>
          </p:txBody>
        </p:sp>
      </p:grpSp>
      <p:grpSp>
        <p:nvGrpSpPr>
          <p:cNvPr id="116" name="Google Shape;116;p15"/>
          <p:cNvGrpSpPr/>
          <p:nvPr/>
        </p:nvGrpSpPr>
        <p:grpSpPr>
          <a:xfrm>
            <a:off x="6892992" y="5143500"/>
            <a:ext cx="4010025" cy="3133725"/>
            <a:chOff x="0" y="0"/>
            <a:chExt cx="5346700" cy="4178300"/>
          </a:xfrm>
        </p:grpSpPr>
        <p:sp>
          <p:nvSpPr>
            <p:cNvPr id="117" name="Google Shape;117;p15"/>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000000"/>
                  </a:solidFill>
                  <a:latin typeface="Arial"/>
                  <a:ea typeface="Arial"/>
                  <a:cs typeface="Arial"/>
                  <a:sym typeface="Arial"/>
                </a:rPr>
                <a:t>Mục tiêu chính</a:t>
              </a:r>
              <a:endParaRPr/>
            </a:p>
          </p:txBody>
        </p:sp>
        <p:sp>
          <p:nvSpPr>
            <p:cNvPr id="118" name="Google Shape;118;p15"/>
            <p:cNvSpPr txBox="1"/>
            <p:nvPr/>
          </p:nvSpPr>
          <p:spPr>
            <a:xfrm>
              <a:off x="0" y="1282700"/>
              <a:ext cx="5346700" cy="28956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000000"/>
                  </a:solidFill>
                  <a:latin typeface="Arial"/>
                  <a:ea typeface="Arial"/>
                  <a:cs typeface="Arial"/>
                  <a:sym typeface="Arial"/>
                </a:rPr>
                <a:t>Mục tiêu là phát triển một ứng dụng thuận tiện cho việc điểm danh và quản lý hoạt động sinh viên, tăng cường hiệu quả và chính xác trong quy trình này.</a:t>
              </a:r>
              <a:endParaRPr/>
            </a:p>
          </p:txBody>
        </p:sp>
      </p:grpSp>
      <p:grpSp>
        <p:nvGrpSpPr>
          <p:cNvPr id="119" name="Google Shape;119;p15"/>
          <p:cNvGrpSpPr/>
          <p:nvPr/>
        </p:nvGrpSpPr>
        <p:grpSpPr>
          <a:xfrm>
            <a:off x="13249275" y="5143500"/>
            <a:ext cx="4010025" cy="3105150"/>
            <a:chOff x="0" y="0"/>
            <a:chExt cx="5346700" cy="4140200"/>
          </a:xfrm>
        </p:grpSpPr>
        <p:sp>
          <p:nvSpPr>
            <p:cNvPr id="120" name="Google Shape;120;p15"/>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000000"/>
                  </a:solidFill>
                  <a:latin typeface="Arial"/>
                  <a:ea typeface="Arial"/>
                  <a:cs typeface="Arial"/>
                  <a:sym typeface="Arial"/>
                </a:rPr>
                <a:t>Rủi ro và ràng buộc</a:t>
              </a:r>
              <a:endParaRPr/>
            </a:p>
          </p:txBody>
        </p:sp>
        <p:sp>
          <p:nvSpPr>
            <p:cNvPr id="121" name="Google Shape;121;p15"/>
            <p:cNvSpPr txBox="1"/>
            <p:nvPr/>
          </p:nvSpPr>
          <p:spPr>
            <a:xfrm>
              <a:off x="0" y="1244600"/>
              <a:ext cx="5346700" cy="28956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000000"/>
                  </a:solidFill>
                  <a:latin typeface="Arial"/>
                  <a:ea typeface="Arial"/>
                  <a:cs typeface="Arial"/>
                  <a:sym typeface="Arial"/>
                </a:rPr>
                <a:t>Dự án sẽ phải đối mặt với các rủi ro về thời gian và công nghệ, cần đảm bảo các yêu cầu về nhân lực và khả năng kỹ thuật để đạt được thành công.</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125"/>
        <p:cNvGrpSpPr/>
        <p:nvPr/>
      </p:nvGrpSpPr>
      <p:grpSpPr>
        <a:xfrm>
          <a:off x="0" y="0"/>
          <a:ext cx="0" cy="0"/>
          <a:chOff x="0" y="0"/>
          <a:chExt cx="0" cy="0"/>
        </a:xfrm>
      </p:grpSpPr>
      <p:sp>
        <p:nvSpPr>
          <p:cNvPr id="126" name="Google Shape;126;p16"/>
          <p:cNvSpPr/>
          <p:nvPr/>
        </p:nvSpPr>
        <p:spPr>
          <a:xfrm>
            <a:off x="0" y="9979101"/>
            <a:ext cx="18467298" cy="498399"/>
          </a:xfrm>
          <a:prstGeom prst="rect">
            <a:avLst/>
          </a:prstGeom>
          <a:solidFill>
            <a:srgbClr val="183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6"/>
          <p:cNvSpPr/>
          <p:nvPr/>
        </p:nvSpPr>
        <p:spPr>
          <a:xfrm>
            <a:off x="1028700" y="2935225"/>
            <a:ext cx="4898156" cy="6323075"/>
          </a:xfrm>
          <a:custGeom>
            <a:avLst/>
            <a:gdLst/>
            <a:ahLst/>
            <a:cxnLst/>
            <a:rect l="l" t="t" r="r" b="b"/>
            <a:pathLst>
              <a:path w="4898156" h="6323075" extrusionOk="0">
                <a:moveTo>
                  <a:pt x="0" y="0"/>
                </a:moveTo>
                <a:lnTo>
                  <a:pt x="4898156" y="0"/>
                </a:lnTo>
                <a:lnTo>
                  <a:pt x="4898156" y="6323075"/>
                </a:lnTo>
                <a:lnTo>
                  <a:pt x="0" y="6323075"/>
                </a:lnTo>
                <a:lnTo>
                  <a:pt x="0" y="0"/>
                </a:lnTo>
                <a:close/>
              </a:path>
            </a:pathLst>
          </a:custGeom>
          <a:blipFill rotWithShape="1">
            <a:blip r:embed="rId3">
              <a:alphaModFix/>
            </a:blip>
            <a:stretch>
              <a:fillRect/>
            </a:stretch>
          </a:blipFill>
          <a:ln>
            <a:noFill/>
          </a:ln>
        </p:spPr>
        <p:txBody>
          <a:bodyPr/>
          <a:lstStyle/>
          <a:p>
            <a:endParaRPr lang="en-US"/>
          </a:p>
        </p:txBody>
      </p:sp>
      <p:sp>
        <p:nvSpPr>
          <p:cNvPr id="128" name="Google Shape;128;p16"/>
          <p:cNvSpPr/>
          <p:nvPr/>
        </p:nvSpPr>
        <p:spPr>
          <a:xfrm>
            <a:off x="6471283" y="2935225"/>
            <a:ext cx="5345434" cy="4603013"/>
          </a:xfrm>
          <a:custGeom>
            <a:avLst/>
            <a:gdLst/>
            <a:ahLst/>
            <a:cxnLst/>
            <a:rect l="l" t="t" r="r" b="b"/>
            <a:pathLst>
              <a:path w="5345434" h="4603013" extrusionOk="0">
                <a:moveTo>
                  <a:pt x="0" y="0"/>
                </a:moveTo>
                <a:lnTo>
                  <a:pt x="5345434" y="0"/>
                </a:lnTo>
                <a:lnTo>
                  <a:pt x="5345434" y="4603013"/>
                </a:lnTo>
                <a:lnTo>
                  <a:pt x="0" y="4603013"/>
                </a:lnTo>
                <a:lnTo>
                  <a:pt x="0" y="0"/>
                </a:lnTo>
                <a:close/>
              </a:path>
            </a:pathLst>
          </a:custGeom>
          <a:blipFill rotWithShape="1">
            <a:blip r:embed="rId4">
              <a:alphaModFix/>
            </a:blip>
            <a:stretch>
              <a:fillRect/>
            </a:stretch>
          </a:blipFill>
          <a:ln>
            <a:noFill/>
          </a:ln>
        </p:spPr>
        <p:txBody>
          <a:bodyPr/>
          <a:lstStyle/>
          <a:p>
            <a:endParaRPr lang="en-US"/>
          </a:p>
        </p:txBody>
      </p:sp>
      <p:sp>
        <p:nvSpPr>
          <p:cNvPr id="129" name="Google Shape;129;p16"/>
          <p:cNvSpPr/>
          <p:nvPr/>
        </p:nvSpPr>
        <p:spPr>
          <a:xfrm>
            <a:off x="12359642" y="2935225"/>
            <a:ext cx="5310539" cy="6202848"/>
          </a:xfrm>
          <a:custGeom>
            <a:avLst/>
            <a:gdLst/>
            <a:ahLst/>
            <a:cxnLst/>
            <a:rect l="l" t="t" r="r" b="b"/>
            <a:pathLst>
              <a:path w="5310539" h="6202848" extrusionOk="0">
                <a:moveTo>
                  <a:pt x="0" y="0"/>
                </a:moveTo>
                <a:lnTo>
                  <a:pt x="5310539" y="0"/>
                </a:lnTo>
                <a:lnTo>
                  <a:pt x="5310539" y="6202848"/>
                </a:lnTo>
                <a:lnTo>
                  <a:pt x="0" y="6202848"/>
                </a:lnTo>
                <a:lnTo>
                  <a:pt x="0" y="0"/>
                </a:lnTo>
                <a:close/>
              </a:path>
            </a:pathLst>
          </a:custGeom>
          <a:blipFill rotWithShape="1">
            <a:blip r:embed="rId5">
              <a:alphaModFix/>
            </a:blip>
            <a:stretch>
              <a:fillRect/>
            </a:stretch>
          </a:blipFill>
          <a:ln>
            <a:noFill/>
          </a:ln>
        </p:spPr>
        <p:txBody>
          <a:bodyPr/>
          <a:lstStyle/>
          <a:p>
            <a:endParaRPr lang="en-US"/>
          </a:p>
        </p:txBody>
      </p:sp>
      <p:sp>
        <p:nvSpPr>
          <p:cNvPr id="130" name="Google Shape;130;p16"/>
          <p:cNvSpPr txBox="1"/>
          <p:nvPr/>
        </p:nvSpPr>
        <p:spPr>
          <a:xfrm>
            <a:off x="1881818" y="1095375"/>
            <a:ext cx="14524365" cy="1138873"/>
          </a:xfrm>
          <a:prstGeom prst="rect">
            <a:avLst/>
          </a:prstGeom>
          <a:noFill/>
          <a:ln>
            <a:noFill/>
          </a:ln>
        </p:spPr>
        <p:txBody>
          <a:bodyPr spcFirstLastPara="1" wrap="square" lIns="0" tIns="0" rIns="0" bIns="0" anchor="t" anchorCtr="0">
            <a:spAutoFit/>
          </a:bodyPr>
          <a:lstStyle/>
          <a:p>
            <a:pPr marL="0" marR="0" lvl="0" indent="0" algn="ctr" rtl="0">
              <a:lnSpc>
                <a:spcPct val="109993"/>
              </a:lnSpc>
              <a:spcBef>
                <a:spcPts val="0"/>
              </a:spcBef>
              <a:spcAft>
                <a:spcPts val="0"/>
              </a:spcAft>
              <a:buNone/>
            </a:pPr>
            <a:r>
              <a:rPr lang="en-US" sz="7925" b="1" i="0" u="none" strike="noStrike" cap="none">
                <a:solidFill>
                  <a:srgbClr val="1836B2"/>
                </a:solidFill>
                <a:latin typeface="Asap SemiBold"/>
                <a:ea typeface="Asap SemiBold"/>
                <a:cs typeface="Asap SemiBold"/>
                <a:sym typeface="Asap SemiBold"/>
              </a:rPr>
              <a:t>Bản tôn chỉ dự án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836B2"/>
        </a:solidFill>
        <a:effectLst/>
      </p:bgPr>
    </p:bg>
    <p:spTree>
      <p:nvGrpSpPr>
        <p:cNvPr id="1" name="Shape 134"/>
        <p:cNvGrpSpPr/>
        <p:nvPr/>
      </p:nvGrpSpPr>
      <p:grpSpPr>
        <a:xfrm>
          <a:off x="0" y="0"/>
          <a:ext cx="0" cy="0"/>
          <a:chOff x="0" y="0"/>
          <a:chExt cx="0" cy="0"/>
        </a:xfrm>
      </p:grpSpPr>
      <p:sp>
        <p:nvSpPr>
          <p:cNvPr id="135" name="Google Shape;135;p17"/>
          <p:cNvSpPr/>
          <p:nvPr/>
        </p:nvSpPr>
        <p:spPr>
          <a:xfrm>
            <a:off x="1028700" y="1028700"/>
            <a:ext cx="5166041" cy="6262882"/>
          </a:xfrm>
          <a:custGeom>
            <a:avLst/>
            <a:gdLst/>
            <a:ahLst/>
            <a:cxnLst/>
            <a:rect l="l" t="t" r="r" b="b"/>
            <a:pathLst>
              <a:path w="5166041" h="6262882" extrusionOk="0">
                <a:moveTo>
                  <a:pt x="0" y="0"/>
                </a:moveTo>
                <a:lnTo>
                  <a:pt x="5166041" y="0"/>
                </a:lnTo>
                <a:lnTo>
                  <a:pt x="5166041" y="6262882"/>
                </a:lnTo>
                <a:lnTo>
                  <a:pt x="0" y="6262882"/>
                </a:lnTo>
                <a:lnTo>
                  <a:pt x="0" y="0"/>
                </a:lnTo>
                <a:close/>
              </a:path>
            </a:pathLst>
          </a:custGeom>
          <a:blipFill rotWithShape="1">
            <a:blip r:embed="rId3">
              <a:alphaModFix/>
            </a:blip>
            <a:stretch>
              <a:fillRect/>
            </a:stretch>
          </a:blipFill>
          <a:ln>
            <a:noFill/>
          </a:ln>
        </p:spPr>
        <p:txBody>
          <a:bodyPr/>
          <a:lstStyle/>
          <a:p>
            <a:endParaRPr lang="en-US"/>
          </a:p>
        </p:txBody>
      </p:sp>
      <p:sp>
        <p:nvSpPr>
          <p:cNvPr id="136" name="Google Shape;136;p17"/>
          <p:cNvSpPr/>
          <p:nvPr/>
        </p:nvSpPr>
        <p:spPr>
          <a:xfrm>
            <a:off x="6615659" y="1028700"/>
            <a:ext cx="5696057" cy="4728281"/>
          </a:xfrm>
          <a:custGeom>
            <a:avLst/>
            <a:gdLst/>
            <a:ahLst/>
            <a:cxnLst/>
            <a:rect l="l" t="t" r="r" b="b"/>
            <a:pathLst>
              <a:path w="5696057" h="4728281" extrusionOk="0">
                <a:moveTo>
                  <a:pt x="0" y="0"/>
                </a:moveTo>
                <a:lnTo>
                  <a:pt x="5696058" y="0"/>
                </a:lnTo>
                <a:lnTo>
                  <a:pt x="5696058" y="4728281"/>
                </a:lnTo>
                <a:lnTo>
                  <a:pt x="0" y="4728281"/>
                </a:lnTo>
                <a:lnTo>
                  <a:pt x="0" y="0"/>
                </a:lnTo>
                <a:close/>
              </a:path>
            </a:pathLst>
          </a:custGeom>
          <a:blipFill rotWithShape="1">
            <a:blip r:embed="rId4">
              <a:alphaModFix/>
            </a:blip>
            <a:stretch>
              <a:fillRect/>
            </a:stretch>
          </a:blipFill>
          <a:ln>
            <a:noFill/>
          </a:ln>
        </p:spPr>
        <p:txBody>
          <a:bodyPr/>
          <a:lstStyle/>
          <a:p>
            <a:endParaRPr lang="en-US"/>
          </a:p>
        </p:txBody>
      </p:sp>
      <p:sp>
        <p:nvSpPr>
          <p:cNvPr id="137" name="Google Shape;137;p17"/>
          <p:cNvSpPr/>
          <p:nvPr/>
        </p:nvSpPr>
        <p:spPr>
          <a:xfrm>
            <a:off x="12732635" y="1028700"/>
            <a:ext cx="4847181" cy="6356958"/>
          </a:xfrm>
          <a:custGeom>
            <a:avLst/>
            <a:gdLst/>
            <a:ahLst/>
            <a:cxnLst/>
            <a:rect l="l" t="t" r="r" b="b"/>
            <a:pathLst>
              <a:path w="4847181" h="6356958" extrusionOk="0">
                <a:moveTo>
                  <a:pt x="0" y="0"/>
                </a:moveTo>
                <a:lnTo>
                  <a:pt x="4847181" y="0"/>
                </a:lnTo>
                <a:lnTo>
                  <a:pt x="4847181" y="6356958"/>
                </a:lnTo>
                <a:lnTo>
                  <a:pt x="0" y="6356958"/>
                </a:lnTo>
                <a:lnTo>
                  <a:pt x="0" y="0"/>
                </a:lnTo>
                <a:close/>
              </a:path>
            </a:pathLst>
          </a:custGeom>
          <a:blipFill rotWithShape="1">
            <a:blip r:embed="rId5">
              <a:alphaModFix/>
            </a:blip>
            <a:stretch>
              <a:fillRect/>
            </a:stretch>
          </a:blipFill>
          <a:ln>
            <a:no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141"/>
        <p:cNvGrpSpPr/>
        <p:nvPr/>
      </p:nvGrpSpPr>
      <p:grpSpPr>
        <a:xfrm>
          <a:off x="0" y="0"/>
          <a:ext cx="0" cy="0"/>
          <a:chOff x="0" y="0"/>
          <a:chExt cx="0" cy="0"/>
        </a:xfrm>
      </p:grpSpPr>
      <p:sp>
        <p:nvSpPr>
          <p:cNvPr id="142" name="Google Shape;142;p18"/>
          <p:cNvSpPr/>
          <p:nvPr/>
        </p:nvSpPr>
        <p:spPr>
          <a:xfrm>
            <a:off x="1028700" y="1962720"/>
            <a:ext cx="7271062" cy="5720529"/>
          </a:xfrm>
          <a:custGeom>
            <a:avLst/>
            <a:gdLst/>
            <a:ahLst/>
            <a:cxnLst/>
            <a:rect l="l" t="t" r="r" b="b"/>
            <a:pathLst>
              <a:path w="7271062" h="5720529" extrusionOk="0">
                <a:moveTo>
                  <a:pt x="0" y="0"/>
                </a:moveTo>
                <a:lnTo>
                  <a:pt x="7271062" y="0"/>
                </a:lnTo>
                <a:lnTo>
                  <a:pt x="7271062" y="5720529"/>
                </a:lnTo>
                <a:lnTo>
                  <a:pt x="0" y="5720529"/>
                </a:lnTo>
                <a:lnTo>
                  <a:pt x="0" y="0"/>
                </a:lnTo>
                <a:close/>
              </a:path>
            </a:pathLst>
          </a:custGeom>
          <a:blipFill rotWithShape="1">
            <a:blip r:embed="rId3">
              <a:alphaModFix/>
            </a:blip>
            <a:stretch>
              <a:fillRect/>
            </a:stretch>
          </a:blipFill>
          <a:ln>
            <a:noFill/>
          </a:ln>
        </p:spPr>
        <p:txBody>
          <a:bodyPr/>
          <a:lstStyle/>
          <a:p>
            <a:endParaRPr lang="en-US"/>
          </a:p>
        </p:txBody>
      </p:sp>
      <p:sp>
        <p:nvSpPr>
          <p:cNvPr id="143" name="Google Shape;143;p18"/>
          <p:cNvSpPr/>
          <p:nvPr/>
        </p:nvSpPr>
        <p:spPr>
          <a:xfrm>
            <a:off x="10661805" y="1892543"/>
            <a:ext cx="6597495" cy="5860882"/>
          </a:xfrm>
          <a:custGeom>
            <a:avLst/>
            <a:gdLst/>
            <a:ahLst/>
            <a:cxnLst/>
            <a:rect l="l" t="t" r="r" b="b"/>
            <a:pathLst>
              <a:path w="6597495" h="5860882" extrusionOk="0">
                <a:moveTo>
                  <a:pt x="0" y="0"/>
                </a:moveTo>
                <a:lnTo>
                  <a:pt x="6597495" y="0"/>
                </a:lnTo>
                <a:lnTo>
                  <a:pt x="6597495" y="5860882"/>
                </a:lnTo>
                <a:lnTo>
                  <a:pt x="0" y="5860882"/>
                </a:lnTo>
                <a:lnTo>
                  <a:pt x="0" y="0"/>
                </a:lnTo>
                <a:close/>
              </a:path>
            </a:pathLst>
          </a:custGeom>
          <a:blipFill rotWithShape="1">
            <a:blip r:embed="rId4">
              <a:alphaModFix/>
            </a:blip>
            <a:stretch>
              <a:fillRect/>
            </a:stretch>
          </a:blipFill>
          <a:ln>
            <a:no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9"/>
          <p:cNvSpPr/>
          <p:nvPr/>
        </p:nvSpPr>
        <p:spPr>
          <a:xfrm>
            <a:off x="11445054" y="-4222570"/>
            <a:ext cx="9150422" cy="6921093"/>
          </a:xfrm>
          <a:custGeom>
            <a:avLst/>
            <a:gdLst/>
            <a:ahLst/>
            <a:cxnLst/>
            <a:rect l="l" t="t" r="r" b="b"/>
            <a:pathLst>
              <a:path w="7102488" h="5372100" extrusionOk="0">
                <a:moveTo>
                  <a:pt x="5551818" y="0"/>
                </a:moveTo>
                <a:lnTo>
                  <a:pt x="1550670" y="0"/>
                </a:lnTo>
                <a:lnTo>
                  <a:pt x="0" y="2686050"/>
                </a:lnTo>
                <a:lnTo>
                  <a:pt x="1550670" y="5372100"/>
                </a:lnTo>
                <a:lnTo>
                  <a:pt x="5551818" y="5372100"/>
                </a:lnTo>
                <a:lnTo>
                  <a:pt x="7102488" y="2686050"/>
                </a:lnTo>
                <a:lnTo>
                  <a:pt x="5551818" y="0"/>
                </a:lnTo>
                <a:close/>
              </a:path>
            </a:pathLst>
          </a:custGeom>
          <a:solidFill>
            <a:srgbClr val="A066CB"/>
          </a:solidFill>
          <a:ln>
            <a:noFill/>
          </a:ln>
        </p:spPr>
        <p:txBody>
          <a:bodyPr/>
          <a:lstStyle/>
          <a:p>
            <a:endParaRPr lang="en-US"/>
          </a:p>
        </p:txBody>
      </p:sp>
      <p:sp>
        <p:nvSpPr>
          <p:cNvPr id="149" name="Google Shape;149;p19"/>
          <p:cNvSpPr/>
          <p:nvPr/>
        </p:nvSpPr>
        <p:spPr>
          <a:xfrm>
            <a:off x="1028700" y="2537094"/>
            <a:ext cx="7694530" cy="5640166"/>
          </a:xfrm>
          <a:custGeom>
            <a:avLst/>
            <a:gdLst/>
            <a:ahLst/>
            <a:cxnLst/>
            <a:rect l="l" t="t" r="r" b="b"/>
            <a:pathLst>
              <a:path w="7694530" h="5640166" extrusionOk="0">
                <a:moveTo>
                  <a:pt x="0" y="0"/>
                </a:moveTo>
                <a:lnTo>
                  <a:pt x="7694530" y="0"/>
                </a:lnTo>
                <a:lnTo>
                  <a:pt x="7694530" y="5640166"/>
                </a:lnTo>
                <a:lnTo>
                  <a:pt x="0" y="5640166"/>
                </a:lnTo>
                <a:lnTo>
                  <a:pt x="0" y="0"/>
                </a:lnTo>
                <a:close/>
              </a:path>
            </a:pathLst>
          </a:custGeom>
          <a:blipFill rotWithShape="1">
            <a:blip r:embed="rId3">
              <a:alphaModFix/>
            </a:blip>
            <a:stretch>
              <a:fillRect/>
            </a:stretch>
          </a:blipFill>
          <a:ln>
            <a:noFill/>
          </a:ln>
        </p:spPr>
        <p:txBody>
          <a:bodyPr/>
          <a:lstStyle/>
          <a:p>
            <a:endParaRPr lang="en-US"/>
          </a:p>
        </p:txBody>
      </p:sp>
      <p:sp>
        <p:nvSpPr>
          <p:cNvPr id="150" name="Google Shape;150;p19"/>
          <p:cNvSpPr/>
          <p:nvPr/>
        </p:nvSpPr>
        <p:spPr>
          <a:xfrm>
            <a:off x="9144000" y="3394076"/>
            <a:ext cx="8558933" cy="3498847"/>
          </a:xfrm>
          <a:custGeom>
            <a:avLst/>
            <a:gdLst/>
            <a:ahLst/>
            <a:cxnLst/>
            <a:rect l="l" t="t" r="r" b="b"/>
            <a:pathLst>
              <a:path w="8558933" h="3498847" extrusionOk="0">
                <a:moveTo>
                  <a:pt x="0" y="0"/>
                </a:moveTo>
                <a:lnTo>
                  <a:pt x="8558933" y="0"/>
                </a:lnTo>
                <a:lnTo>
                  <a:pt x="8558933" y="3498848"/>
                </a:lnTo>
                <a:lnTo>
                  <a:pt x="0" y="3498848"/>
                </a:lnTo>
                <a:lnTo>
                  <a:pt x="0" y="0"/>
                </a:lnTo>
                <a:close/>
              </a:path>
            </a:pathLst>
          </a:custGeom>
          <a:blipFill rotWithShape="1">
            <a:blip r:embed="rId4">
              <a:alphaModFix/>
            </a:blip>
            <a:stretch>
              <a:fillRect/>
            </a:stretch>
          </a:blipFill>
          <a:ln>
            <a:no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36B2"/>
        </a:solidFill>
        <a:effectLst/>
      </p:bgPr>
    </p:bg>
    <p:spTree>
      <p:nvGrpSpPr>
        <p:cNvPr id="1" name="Shape 154"/>
        <p:cNvGrpSpPr/>
        <p:nvPr/>
      </p:nvGrpSpPr>
      <p:grpSpPr>
        <a:xfrm>
          <a:off x="0" y="0"/>
          <a:ext cx="0" cy="0"/>
          <a:chOff x="0" y="0"/>
          <a:chExt cx="0" cy="0"/>
        </a:xfrm>
      </p:grpSpPr>
      <p:sp>
        <p:nvSpPr>
          <p:cNvPr id="155" name="Google Shape;155;p20"/>
          <p:cNvSpPr/>
          <p:nvPr/>
        </p:nvSpPr>
        <p:spPr>
          <a:xfrm>
            <a:off x="2413100" y="1744645"/>
            <a:ext cx="13776030" cy="8265618"/>
          </a:xfrm>
          <a:custGeom>
            <a:avLst/>
            <a:gdLst/>
            <a:ahLst/>
            <a:cxnLst/>
            <a:rect l="l" t="t" r="r" b="b"/>
            <a:pathLst>
              <a:path w="13776030" h="8265618" extrusionOk="0">
                <a:moveTo>
                  <a:pt x="0" y="0"/>
                </a:moveTo>
                <a:lnTo>
                  <a:pt x="13776031" y="0"/>
                </a:lnTo>
                <a:lnTo>
                  <a:pt x="13776031" y="8265618"/>
                </a:lnTo>
                <a:lnTo>
                  <a:pt x="0" y="8265618"/>
                </a:lnTo>
                <a:lnTo>
                  <a:pt x="0" y="0"/>
                </a:lnTo>
                <a:close/>
              </a:path>
            </a:pathLst>
          </a:custGeom>
          <a:blipFill rotWithShape="1">
            <a:blip r:embed="rId3">
              <a:alphaModFix/>
            </a:blip>
            <a:stretch>
              <a:fillRect/>
            </a:stretch>
          </a:blipFill>
          <a:ln>
            <a:noFill/>
          </a:ln>
        </p:spPr>
        <p:txBody>
          <a:bodyPr/>
          <a:lstStyle/>
          <a:p>
            <a:endParaRPr lang="en-US"/>
          </a:p>
        </p:txBody>
      </p:sp>
      <p:sp>
        <p:nvSpPr>
          <p:cNvPr id="156" name="Google Shape;156;p20"/>
          <p:cNvSpPr txBox="1"/>
          <p:nvPr/>
        </p:nvSpPr>
        <p:spPr>
          <a:xfrm>
            <a:off x="0" y="591821"/>
            <a:ext cx="11486743" cy="1104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7200" b="1" i="0" u="none" strike="noStrike" cap="none">
                <a:solidFill>
                  <a:srgbClr val="000000"/>
                </a:solidFill>
                <a:latin typeface="Asap SemiBold"/>
                <a:ea typeface="Asap SemiBold"/>
                <a:cs typeface="Asap SemiBold"/>
                <a:sym typeface="Asap SemiBold"/>
              </a:rPr>
              <a:t>Phân rã công việc -WBS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160"/>
        <p:cNvGrpSpPr/>
        <p:nvPr/>
      </p:nvGrpSpPr>
      <p:grpSpPr>
        <a:xfrm>
          <a:off x="0" y="0"/>
          <a:ext cx="0" cy="0"/>
          <a:chOff x="0" y="0"/>
          <a:chExt cx="0" cy="0"/>
        </a:xfrm>
      </p:grpSpPr>
      <p:sp>
        <p:nvSpPr>
          <p:cNvPr id="161" name="Google Shape;161;p21"/>
          <p:cNvSpPr/>
          <p:nvPr/>
        </p:nvSpPr>
        <p:spPr>
          <a:xfrm rot="10800000">
            <a:off x="-639975" y="3395644"/>
            <a:ext cx="7820041" cy="986979"/>
          </a:xfrm>
          <a:custGeom>
            <a:avLst/>
            <a:gdLst/>
            <a:ahLst/>
            <a:cxnLst/>
            <a:rect l="l" t="t" r="r" b="b"/>
            <a:pathLst>
              <a:path w="42564283" h="5372100" extrusionOk="0">
                <a:moveTo>
                  <a:pt x="41013611" y="0"/>
                </a:moveTo>
                <a:lnTo>
                  <a:pt x="1550670" y="0"/>
                </a:lnTo>
                <a:lnTo>
                  <a:pt x="0" y="2686050"/>
                </a:lnTo>
                <a:lnTo>
                  <a:pt x="1550670" y="5372100"/>
                </a:lnTo>
                <a:lnTo>
                  <a:pt x="41013611" y="5372100"/>
                </a:lnTo>
                <a:lnTo>
                  <a:pt x="42564283" y="2686050"/>
                </a:lnTo>
                <a:lnTo>
                  <a:pt x="41013611" y="0"/>
                </a:lnTo>
                <a:close/>
              </a:path>
            </a:pathLst>
          </a:custGeom>
          <a:solidFill>
            <a:srgbClr val="A066CB"/>
          </a:solidFill>
          <a:ln>
            <a:noFill/>
          </a:ln>
        </p:spPr>
        <p:txBody>
          <a:bodyPr/>
          <a:lstStyle/>
          <a:p>
            <a:endParaRPr lang="en-US"/>
          </a:p>
        </p:txBody>
      </p:sp>
      <p:sp>
        <p:nvSpPr>
          <p:cNvPr id="162" name="Google Shape;162;p21"/>
          <p:cNvSpPr/>
          <p:nvPr/>
        </p:nvSpPr>
        <p:spPr>
          <a:xfrm rot="10800000">
            <a:off x="-639975" y="5465941"/>
            <a:ext cx="7820041" cy="986979"/>
          </a:xfrm>
          <a:custGeom>
            <a:avLst/>
            <a:gdLst/>
            <a:ahLst/>
            <a:cxnLst/>
            <a:rect l="l" t="t" r="r" b="b"/>
            <a:pathLst>
              <a:path w="42564283" h="5372100" extrusionOk="0">
                <a:moveTo>
                  <a:pt x="41013611" y="0"/>
                </a:moveTo>
                <a:lnTo>
                  <a:pt x="1550670" y="0"/>
                </a:lnTo>
                <a:lnTo>
                  <a:pt x="0" y="2686050"/>
                </a:lnTo>
                <a:lnTo>
                  <a:pt x="1550670" y="5372100"/>
                </a:lnTo>
                <a:lnTo>
                  <a:pt x="41013611" y="5372100"/>
                </a:lnTo>
                <a:lnTo>
                  <a:pt x="42564283" y="2686050"/>
                </a:lnTo>
                <a:lnTo>
                  <a:pt x="41013611" y="0"/>
                </a:lnTo>
                <a:close/>
              </a:path>
            </a:pathLst>
          </a:custGeom>
          <a:solidFill>
            <a:srgbClr val="A066CB"/>
          </a:solidFill>
          <a:ln>
            <a:noFill/>
          </a:ln>
        </p:spPr>
        <p:txBody>
          <a:bodyPr/>
          <a:lstStyle/>
          <a:p>
            <a:endParaRPr lang="en-US"/>
          </a:p>
        </p:txBody>
      </p:sp>
      <p:sp>
        <p:nvSpPr>
          <p:cNvPr id="163" name="Google Shape;163;p21"/>
          <p:cNvSpPr/>
          <p:nvPr/>
        </p:nvSpPr>
        <p:spPr>
          <a:xfrm rot="10800000">
            <a:off x="-639975" y="7390671"/>
            <a:ext cx="7820041" cy="986979"/>
          </a:xfrm>
          <a:custGeom>
            <a:avLst/>
            <a:gdLst/>
            <a:ahLst/>
            <a:cxnLst/>
            <a:rect l="l" t="t" r="r" b="b"/>
            <a:pathLst>
              <a:path w="42564283" h="5372100" extrusionOk="0">
                <a:moveTo>
                  <a:pt x="41013611" y="0"/>
                </a:moveTo>
                <a:lnTo>
                  <a:pt x="1550670" y="0"/>
                </a:lnTo>
                <a:lnTo>
                  <a:pt x="0" y="2686050"/>
                </a:lnTo>
                <a:lnTo>
                  <a:pt x="1550670" y="5372100"/>
                </a:lnTo>
                <a:lnTo>
                  <a:pt x="41013611" y="5372100"/>
                </a:lnTo>
                <a:lnTo>
                  <a:pt x="42564283" y="2686050"/>
                </a:lnTo>
                <a:lnTo>
                  <a:pt x="41013611" y="0"/>
                </a:lnTo>
                <a:close/>
              </a:path>
            </a:pathLst>
          </a:custGeom>
          <a:solidFill>
            <a:srgbClr val="A066CB"/>
          </a:solidFill>
          <a:ln>
            <a:noFill/>
          </a:ln>
        </p:spPr>
        <p:txBody>
          <a:bodyPr/>
          <a:lstStyle/>
          <a:p>
            <a:endParaRPr lang="en-US"/>
          </a:p>
        </p:txBody>
      </p:sp>
      <p:sp>
        <p:nvSpPr>
          <p:cNvPr id="164" name="Google Shape;164;p21"/>
          <p:cNvSpPr/>
          <p:nvPr/>
        </p:nvSpPr>
        <p:spPr>
          <a:xfrm>
            <a:off x="-179299" y="9979101"/>
            <a:ext cx="18646597" cy="498399"/>
          </a:xfrm>
          <a:prstGeom prst="rect">
            <a:avLst/>
          </a:prstGeom>
          <a:solidFill>
            <a:srgbClr val="183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1"/>
          <p:cNvSpPr/>
          <p:nvPr/>
        </p:nvSpPr>
        <p:spPr>
          <a:xfrm>
            <a:off x="12210009" y="3222085"/>
            <a:ext cx="5671101" cy="4662075"/>
          </a:xfrm>
          <a:custGeom>
            <a:avLst/>
            <a:gdLst/>
            <a:ahLst/>
            <a:cxnLst/>
            <a:rect l="l" t="t" r="r" b="b"/>
            <a:pathLst>
              <a:path w="5671101" h="4662075" extrusionOk="0">
                <a:moveTo>
                  <a:pt x="0" y="0"/>
                </a:moveTo>
                <a:lnTo>
                  <a:pt x="5671101" y="0"/>
                </a:lnTo>
                <a:lnTo>
                  <a:pt x="5671101" y="4662075"/>
                </a:lnTo>
                <a:lnTo>
                  <a:pt x="0" y="4662075"/>
                </a:lnTo>
                <a:lnTo>
                  <a:pt x="0" y="0"/>
                </a:lnTo>
                <a:close/>
              </a:path>
            </a:pathLst>
          </a:custGeom>
          <a:blipFill rotWithShape="1">
            <a:blip r:embed="rId3">
              <a:alphaModFix/>
            </a:blip>
            <a:stretch>
              <a:fillRect/>
            </a:stretch>
          </a:blipFill>
          <a:ln>
            <a:noFill/>
          </a:ln>
        </p:spPr>
        <p:txBody>
          <a:bodyPr/>
          <a:lstStyle/>
          <a:p>
            <a:endParaRPr lang="en-US"/>
          </a:p>
        </p:txBody>
      </p:sp>
      <p:sp>
        <p:nvSpPr>
          <p:cNvPr id="166" name="Google Shape;166;p21"/>
          <p:cNvSpPr/>
          <p:nvPr/>
        </p:nvSpPr>
        <p:spPr>
          <a:xfrm>
            <a:off x="7076765" y="2374643"/>
            <a:ext cx="5133244" cy="6356958"/>
          </a:xfrm>
          <a:custGeom>
            <a:avLst/>
            <a:gdLst/>
            <a:ahLst/>
            <a:cxnLst/>
            <a:rect l="l" t="t" r="r" b="b"/>
            <a:pathLst>
              <a:path w="5133244" h="6356958" extrusionOk="0">
                <a:moveTo>
                  <a:pt x="0" y="0"/>
                </a:moveTo>
                <a:lnTo>
                  <a:pt x="5133244" y="0"/>
                </a:lnTo>
                <a:lnTo>
                  <a:pt x="5133244" y="6356958"/>
                </a:lnTo>
                <a:lnTo>
                  <a:pt x="0" y="6356958"/>
                </a:lnTo>
                <a:lnTo>
                  <a:pt x="0" y="0"/>
                </a:lnTo>
                <a:close/>
              </a:path>
            </a:pathLst>
          </a:custGeom>
          <a:blipFill rotWithShape="1">
            <a:blip r:embed="rId4">
              <a:alphaModFix/>
            </a:blip>
            <a:stretch>
              <a:fillRect/>
            </a:stretch>
          </a:blipFill>
          <a:ln>
            <a:noFill/>
          </a:ln>
        </p:spPr>
        <p:txBody>
          <a:bodyPr/>
          <a:lstStyle/>
          <a:p>
            <a:endParaRPr lang="en-US"/>
          </a:p>
        </p:txBody>
      </p:sp>
      <p:sp>
        <p:nvSpPr>
          <p:cNvPr id="167" name="Google Shape;167;p21"/>
          <p:cNvSpPr txBox="1"/>
          <p:nvPr/>
        </p:nvSpPr>
        <p:spPr>
          <a:xfrm>
            <a:off x="748152" y="896960"/>
            <a:ext cx="11181309" cy="107696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7550" b="1" i="0" u="none" strike="noStrike" cap="none">
                <a:solidFill>
                  <a:srgbClr val="1836B2"/>
                </a:solidFill>
                <a:latin typeface="Asap SemiBold"/>
                <a:ea typeface="Asap SemiBold"/>
                <a:cs typeface="Asap SemiBold"/>
                <a:sym typeface="Asap SemiBold"/>
              </a:rPr>
              <a:t>Phân rã công việc</a:t>
            </a:r>
            <a:endParaRPr/>
          </a:p>
        </p:txBody>
      </p:sp>
      <p:sp>
        <p:nvSpPr>
          <p:cNvPr id="168" name="Google Shape;168;p21"/>
          <p:cNvSpPr txBox="1"/>
          <p:nvPr/>
        </p:nvSpPr>
        <p:spPr>
          <a:xfrm>
            <a:off x="201283" y="3709873"/>
            <a:ext cx="6137523"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rgbClr val="FFFFFF"/>
                </a:solidFill>
                <a:latin typeface="Asap SemiBold"/>
                <a:ea typeface="Asap SemiBold"/>
                <a:cs typeface="Asap SemiBold"/>
                <a:sym typeface="Asap SemiBold"/>
              </a:rPr>
              <a:t>WBS giúp tổ chức rõ ràng các công việc dự án.</a:t>
            </a:r>
            <a:endParaRPr/>
          </a:p>
        </p:txBody>
      </p:sp>
      <p:sp>
        <p:nvSpPr>
          <p:cNvPr id="169" name="Google Shape;169;p21"/>
          <p:cNvSpPr txBox="1"/>
          <p:nvPr/>
        </p:nvSpPr>
        <p:spPr>
          <a:xfrm>
            <a:off x="201283" y="5780170"/>
            <a:ext cx="6824514"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rgbClr val="FFFFFF"/>
                </a:solidFill>
                <a:latin typeface="Asap SemiBold"/>
                <a:ea typeface="Asap SemiBold"/>
                <a:cs typeface="Asap SemiBold"/>
                <a:sym typeface="Asap SemiBold"/>
              </a:rPr>
              <a:t>Nó là công cụ quản lý quan trọng trong phần mềm.</a:t>
            </a:r>
            <a:endParaRPr/>
          </a:p>
        </p:txBody>
      </p:sp>
      <p:sp>
        <p:nvSpPr>
          <p:cNvPr id="170" name="Google Shape;170;p21"/>
          <p:cNvSpPr txBox="1"/>
          <p:nvPr/>
        </p:nvSpPr>
        <p:spPr>
          <a:xfrm>
            <a:off x="201283" y="7704899"/>
            <a:ext cx="6785521"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rgbClr val="FFFFFF"/>
                </a:solidFill>
                <a:latin typeface="Asap SemiBold"/>
                <a:ea typeface="Asap SemiBold"/>
                <a:cs typeface="Asap SemiBold"/>
                <a:sym typeface="Asap SemiBold"/>
              </a:rPr>
              <a:t>Cấu trúc WBS hỗ trợ phân công nhiệm vụ hiệu quả.</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836B2"/>
        </a:solidFill>
        <a:effectLst/>
      </p:bgPr>
    </p:bg>
    <p:spTree>
      <p:nvGrpSpPr>
        <p:cNvPr id="1" name="Shape 174"/>
        <p:cNvGrpSpPr/>
        <p:nvPr/>
      </p:nvGrpSpPr>
      <p:grpSpPr>
        <a:xfrm>
          <a:off x="0" y="0"/>
          <a:ext cx="0" cy="0"/>
          <a:chOff x="0" y="0"/>
          <a:chExt cx="0" cy="0"/>
        </a:xfrm>
      </p:grpSpPr>
      <p:sp>
        <p:nvSpPr>
          <p:cNvPr id="175" name="Google Shape;175;p22"/>
          <p:cNvSpPr/>
          <p:nvPr/>
        </p:nvSpPr>
        <p:spPr>
          <a:xfrm>
            <a:off x="8915953" y="0"/>
            <a:ext cx="9372047" cy="9462683"/>
          </a:xfrm>
          <a:custGeom>
            <a:avLst/>
            <a:gdLst/>
            <a:ahLst/>
            <a:cxnLst/>
            <a:rect l="l" t="t" r="r" b="b"/>
            <a:pathLst>
              <a:path w="9372047" h="9462683" extrusionOk="0">
                <a:moveTo>
                  <a:pt x="0" y="0"/>
                </a:moveTo>
                <a:lnTo>
                  <a:pt x="9372047" y="0"/>
                </a:lnTo>
                <a:lnTo>
                  <a:pt x="9372047" y="9462683"/>
                </a:lnTo>
                <a:lnTo>
                  <a:pt x="0" y="9462683"/>
                </a:lnTo>
                <a:lnTo>
                  <a:pt x="0" y="0"/>
                </a:lnTo>
                <a:close/>
              </a:path>
            </a:pathLst>
          </a:custGeom>
          <a:blipFill rotWithShape="1">
            <a:blip r:embed="rId3">
              <a:alphaModFix/>
            </a:blip>
            <a:stretch>
              <a:fillRect t="-24278" b="-24278"/>
            </a:stretch>
          </a:blipFill>
          <a:ln>
            <a:noFill/>
          </a:ln>
        </p:spPr>
        <p:txBody>
          <a:bodyPr/>
          <a:lstStyle/>
          <a:p>
            <a:endParaRPr lang="en-US"/>
          </a:p>
        </p:txBody>
      </p:sp>
      <p:sp>
        <p:nvSpPr>
          <p:cNvPr id="176" name="Google Shape;176;p22"/>
          <p:cNvSpPr/>
          <p:nvPr/>
        </p:nvSpPr>
        <p:spPr>
          <a:xfrm>
            <a:off x="-2096233" y="6411649"/>
            <a:ext cx="14175218" cy="11400367"/>
          </a:xfrm>
          <a:custGeom>
            <a:avLst/>
            <a:gdLst/>
            <a:ahLst/>
            <a:cxnLst/>
            <a:rect l="l" t="t" r="r" b="b"/>
            <a:pathLst>
              <a:path w="6679670" h="5372100" extrusionOk="0">
                <a:moveTo>
                  <a:pt x="5129000" y="0"/>
                </a:moveTo>
                <a:lnTo>
                  <a:pt x="1550670" y="0"/>
                </a:lnTo>
                <a:lnTo>
                  <a:pt x="0" y="2686050"/>
                </a:lnTo>
                <a:lnTo>
                  <a:pt x="1550670" y="5372100"/>
                </a:lnTo>
                <a:lnTo>
                  <a:pt x="5129000" y="5372100"/>
                </a:lnTo>
                <a:lnTo>
                  <a:pt x="6679670" y="2686050"/>
                </a:lnTo>
                <a:lnTo>
                  <a:pt x="5129000" y="0"/>
                </a:lnTo>
                <a:close/>
              </a:path>
            </a:pathLst>
          </a:custGeom>
          <a:solidFill>
            <a:srgbClr val="A066CB"/>
          </a:solidFill>
          <a:ln>
            <a:noFill/>
          </a:ln>
        </p:spPr>
        <p:txBody>
          <a:bodyPr/>
          <a:lstStyle/>
          <a:p>
            <a:endParaRPr lang="en-US"/>
          </a:p>
        </p:txBody>
      </p:sp>
      <p:sp>
        <p:nvSpPr>
          <p:cNvPr id="177" name="Google Shape;177;p22"/>
          <p:cNvSpPr/>
          <p:nvPr/>
        </p:nvSpPr>
        <p:spPr>
          <a:xfrm>
            <a:off x="-3124933" y="-2095500"/>
            <a:ext cx="14175218" cy="11400367"/>
          </a:xfrm>
          <a:custGeom>
            <a:avLst/>
            <a:gdLst/>
            <a:ahLst/>
            <a:cxnLst/>
            <a:rect l="l" t="t" r="r" b="b"/>
            <a:pathLst>
              <a:path w="6679670" h="5372100" extrusionOk="0">
                <a:moveTo>
                  <a:pt x="5129000" y="0"/>
                </a:moveTo>
                <a:lnTo>
                  <a:pt x="1550670" y="0"/>
                </a:lnTo>
                <a:lnTo>
                  <a:pt x="0" y="2686050"/>
                </a:lnTo>
                <a:lnTo>
                  <a:pt x="1550670" y="5372100"/>
                </a:lnTo>
                <a:lnTo>
                  <a:pt x="5129000" y="5372100"/>
                </a:lnTo>
                <a:lnTo>
                  <a:pt x="6679670" y="2686050"/>
                </a:lnTo>
                <a:lnTo>
                  <a:pt x="5129000" y="0"/>
                </a:lnTo>
                <a:close/>
              </a:path>
            </a:pathLst>
          </a:custGeom>
          <a:solidFill>
            <a:srgbClr val="1836B2"/>
          </a:solidFill>
          <a:ln>
            <a:noFill/>
          </a:ln>
        </p:spPr>
        <p:txBody>
          <a:bodyPr/>
          <a:lstStyle/>
          <a:p>
            <a:endParaRPr lang="en-US"/>
          </a:p>
        </p:txBody>
      </p:sp>
      <p:sp>
        <p:nvSpPr>
          <p:cNvPr id="178" name="Google Shape;178;p22"/>
          <p:cNvSpPr/>
          <p:nvPr/>
        </p:nvSpPr>
        <p:spPr>
          <a:xfrm>
            <a:off x="12537270" y="8702771"/>
            <a:ext cx="1330919" cy="759911"/>
          </a:xfrm>
          <a:custGeom>
            <a:avLst/>
            <a:gdLst/>
            <a:ahLst/>
            <a:cxnLst/>
            <a:rect l="l" t="t" r="r" b="b"/>
            <a:pathLst>
              <a:path w="1330919" h="759911" extrusionOk="0">
                <a:moveTo>
                  <a:pt x="0" y="0"/>
                </a:moveTo>
                <a:lnTo>
                  <a:pt x="1330919" y="0"/>
                </a:lnTo>
                <a:lnTo>
                  <a:pt x="1330919" y="759912"/>
                </a:lnTo>
                <a:lnTo>
                  <a:pt x="0" y="759912"/>
                </a:lnTo>
                <a:lnTo>
                  <a:pt x="0" y="0"/>
                </a:lnTo>
                <a:close/>
              </a:path>
            </a:pathLst>
          </a:custGeom>
          <a:blipFill rotWithShape="1">
            <a:blip r:embed="rId4">
              <a:alphaModFix/>
            </a:blip>
            <a:stretch>
              <a:fillRect t="-51572"/>
            </a:stretch>
          </a:blipFill>
          <a:ln>
            <a:noFill/>
          </a:ln>
        </p:spPr>
        <p:txBody>
          <a:bodyPr/>
          <a:lstStyle/>
          <a:p>
            <a:endParaRPr lang="en-US"/>
          </a:p>
        </p:txBody>
      </p:sp>
      <p:sp>
        <p:nvSpPr>
          <p:cNvPr id="179" name="Google Shape;179;p22"/>
          <p:cNvSpPr/>
          <p:nvPr/>
        </p:nvSpPr>
        <p:spPr>
          <a:xfrm>
            <a:off x="1028700" y="2266544"/>
            <a:ext cx="16230600" cy="3205543"/>
          </a:xfrm>
          <a:custGeom>
            <a:avLst/>
            <a:gdLst/>
            <a:ahLst/>
            <a:cxnLst/>
            <a:rect l="l" t="t" r="r" b="b"/>
            <a:pathLst>
              <a:path w="16230600" h="3205543" extrusionOk="0">
                <a:moveTo>
                  <a:pt x="0" y="0"/>
                </a:moveTo>
                <a:lnTo>
                  <a:pt x="16230600" y="0"/>
                </a:lnTo>
                <a:lnTo>
                  <a:pt x="16230600" y="3205544"/>
                </a:lnTo>
                <a:lnTo>
                  <a:pt x="0" y="3205544"/>
                </a:lnTo>
                <a:lnTo>
                  <a:pt x="0" y="0"/>
                </a:lnTo>
                <a:close/>
              </a:path>
            </a:pathLst>
          </a:custGeom>
          <a:blipFill rotWithShape="1">
            <a:blip r:embed="rId5">
              <a:alphaModFix/>
            </a:blip>
            <a:stretch>
              <a:fillRect/>
            </a:stretch>
          </a:blipFill>
          <a:ln>
            <a:noFill/>
          </a:ln>
        </p:spPr>
        <p:txBody>
          <a:bodyPr/>
          <a:lstStyle/>
          <a:p>
            <a:endParaRPr lang="en-US"/>
          </a:p>
        </p:txBody>
      </p:sp>
      <p:sp>
        <p:nvSpPr>
          <p:cNvPr id="180" name="Google Shape;180;p22"/>
          <p:cNvSpPr/>
          <p:nvPr/>
        </p:nvSpPr>
        <p:spPr>
          <a:xfrm>
            <a:off x="1028700" y="5995963"/>
            <a:ext cx="11301259" cy="607443"/>
          </a:xfrm>
          <a:custGeom>
            <a:avLst/>
            <a:gdLst/>
            <a:ahLst/>
            <a:cxnLst/>
            <a:rect l="l" t="t" r="r" b="b"/>
            <a:pathLst>
              <a:path w="11301259" h="607443" extrusionOk="0">
                <a:moveTo>
                  <a:pt x="0" y="0"/>
                </a:moveTo>
                <a:lnTo>
                  <a:pt x="11301259" y="0"/>
                </a:lnTo>
                <a:lnTo>
                  <a:pt x="11301259" y="607442"/>
                </a:lnTo>
                <a:lnTo>
                  <a:pt x="0" y="607442"/>
                </a:lnTo>
                <a:lnTo>
                  <a:pt x="0" y="0"/>
                </a:lnTo>
                <a:close/>
              </a:path>
            </a:pathLst>
          </a:custGeom>
          <a:blipFill rotWithShape="1">
            <a:blip r:embed="rId6">
              <a:alphaModFix/>
            </a:blip>
            <a:stretch>
              <a:fillRect/>
            </a:stretch>
          </a:blipFill>
          <a:ln>
            <a:noFill/>
          </a:ln>
        </p:spPr>
        <p:txBody>
          <a:bodyPr/>
          <a:lstStyle/>
          <a:p>
            <a:endParaRPr lang="en-US"/>
          </a:p>
        </p:txBody>
      </p:sp>
      <p:sp>
        <p:nvSpPr>
          <p:cNvPr id="181" name="Google Shape;181;p22"/>
          <p:cNvSpPr txBox="1"/>
          <p:nvPr/>
        </p:nvSpPr>
        <p:spPr>
          <a:xfrm>
            <a:off x="433456" y="326263"/>
            <a:ext cx="14190730" cy="1414399"/>
          </a:xfrm>
          <a:prstGeom prst="rect">
            <a:avLst/>
          </a:prstGeom>
          <a:no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9350" b="1" i="0" u="none" strike="noStrike" cap="none">
                <a:solidFill>
                  <a:srgbClr val="FFFFFF"/>
                </a:solidFill>
                <a:latin typeface="Asap SemiBold"/>
                <a:ea typeface="Asap SemiBold"/>
                <a:cs typeface="Asap SemiBold"/>
                <a:sym typeface="Asap SemiBold"/>
              </a:rPr>
              <a:t>Sơ đồ PERT và đường găng</a:t>
            </a:r>
            <a:endParaRPr/>
          </a:p>
        </p:txBody>
      </p:sp>
      <p:sp>
        <p:nvSpPr>
          <p:cNvPr id="182" name="Google Shape;182;p22"/>
          <p:cNvSpPr txBox="1"/>
          <p:nvPr/>
        </p:nvSpPr>
        <p:spPr>
          <a:xfrm>
            <a:off x="1028700" y="5554765"/>
            <a:ext cx="6638925"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rgbClr val="FFFFFF"/>
                </a:solidFill>
                <a:latin typeface="Asap SemiBold"/>
                <a:ea typeface="Asap SemiBold"/>
                <a:cs typeface="Asap SemiBold"/>
                <a:sym typeface="Asap SemiBold"/>
              </a:rPr>
              <a:t>ĐƯỜNG GĂNG (Critical Path) – Trước khi rút ngắn</a:t>
            </a:r>
            <a:endParaRPr/>
          </a:p>
        </p:txBody>
      </p:sp>
      <p:sp>
        <p:nvSpPr>
          <p:cNvPr id="183" name="Google Shape;183;p22"/>
          <p:cNvSpPr txBox="1"/>
          <p:nvPr/>
        </p:nvSpPr>
        <p:spPr>
          <a:xfrm>
            <a:off x="1028700" y="7780059"/>
            <a:ext cx="4025503" cy="718145"/>
          </a:xfrm>
          <a:prstGeom prst="rect">
            <a:avLst/>
          </a:prstGeom>
          <a:no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Công việc Critical: 23 tasks</a:t>
            </a:r>
            <a:endParaRPr/>
          </a:p>
          <a:p>
            <a:pPr marL="0" marR="0" lvl="0" indent="0" algn="l"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Công việc Non-critical: 6 tasks</a:t>
            </a:r>
            <a:endParaRPr/>
          </a:p>
        </p:txBody>
      </p:sp>
      <p:sp>
        <p:nvSpPr>
          <p:cNvPr id="184" name="Google Shape;184;p22"/>
          <p:cNvSpPr txBox="1"/>
          <p:nvPr/>
        </p:nvSpPr>
        <p:spPr>
          <a:xfrm>
            <a:off x="485630" y="7377512"/>
            <a:ext cx="4233662"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Thời gian dự án: 31 ngày</a:t>
            </a:r>
            <a:endParaRPr sz="2400" b="1" i="0" u="none" strike="noStrike" cap="none">
              <a:solidFill>
                <a:schemeClr val="lt1"/>
              </a:solidFill>
              <a:latin typeface="Asap SemiBold"/>
              <a:ea typeface="Asap SemiBold"/>
              <a:cs typeface="Asap SemiBold"/>
              <a:sym typeface="Asap SemiBold"/>
            </a:endParaRPr>
          </a:p>
        </p:txBody>
      </p:sp>
      <p:sp>
        <p:nvSpPr>
          <p:cNvPr id="185" name="Google Shape;185;p22"/>
          <p:cNvSpPr txBox="1"/>
          <p:nvPr/>
        </p:nvSpPr>
        <p:spPr>
          <a:xfrm>
            <a:off x="1028700" y="1740662"/>
            <a:ext cx="4129236"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rgbClr val="FFFFFF"/>
                </a:solidFill>
                <a:latin typeface="Asap SemiBold"/>
                <a:ea typeface="Asap SemiBold"/>
                <a:cs typeface="Asap SemiBold"/>
                <a:sym typeface="Asap SemiBold"/>
              </a:rPr>
              <a:t>Sơ đồ Pert – Trước khi rút ngắn</a:t>
            </a:r>
            <a:endParaRPr/>
          </a:p>
        </p:txBody>
      </p:sp>
      <p:sp>
        <p:nvSpPr>
          <p:cNvPr id="186" name="Google Shape;186;p22"/>
          <p:cNvSpPr txBox="1"/>
          <p:nvPr/>
        </p:nvSpPr>
        <p:spPr>
          <a:xfrm>
            <a:off x="1028700" y="6615342"/>
            <a:ext cx="7518551" cy="718145"/>
          </a:xfrm>
          <a:prstGeom prst="rect">
            <a:avLst/>
          </a:prstGeom>
          <a:no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Tổng số công việc: 35 tasks (bao gồm Summary).</a:t>
            </a:r>
            <a:endParaRPr/>
          </a:p>
          <a:p>
            <a:pPr marL="0" marR="0" lvl="0" indent="0" algn="l"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Số công việc chi tiết: 29 tasks.</a:t>
            </a:r>
            <a:endParaRPr/>
          </a:p>
        </p:txBody>
      </p:sp>
      <p:sp>
        <p:nvSpPr>
          <p:cNvPr id="187" name="Google Shape;187;p22"/>
          <p:cNvSpPr txBox="1"/>
          <p:nvPr/>
        </p:nvSpPr>
        <p:spPr>
          <a:xfrm>
            <a:off x="644093" y="8491005"/>
            <a:ext cx="3162300"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Tổng tiền : 4.480 $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836B2"/>
        </a:solidFill>
        <a:effectLst/>
      </p:bgPr>
    </p:bg>
    <p:spTree>
      <p:nvGrpSpPr>
        <p:cNvPr id="1" name="Shape 191"/>
        <p:cNvGrpSpPr/>
        <p:nvPr/>
      </p:nvGrpSpPr>
      <p:grpSpPr>
        <a:xfrm>
          <a:off x="0" y="0"/>
          <a:ext cx="0" cy="0"/>
          <a:chOff x="0" y="0"/>
          <a:chExt cx="0" cy="0"/>
        </a:xfrm>
      </p:grpSpPr>
      <p:sp>
        <p:nvSpPr>
          <p:cNvPr id="192" name="Google Shape;192;p23"/>
          <p:cNvSpPr/>
          <p:nvPr/>
        </p:nvSpPr>
        <p:spPr>
          <a:xfrm>
            <a:off x="8915953" y="0"/>
            <a:ext cx="9372047" cy="9462683"/>
          </a:xfrm>
          <a:custGeom>
            <a:avLst/>
            <a:gdLst/>
            <a:ahLst/>
            <a:cxnLst/>
            <a:rect l="l" t="t" r="r" b="b"/>
            <a:pathLst>
              <a:path w="9372047" h="9462683" extrusionOk="0">
                <a:moveTo>
                  <a:pt x="0" y="0"/>
                </a:moveTo>
                <a:lnTo>
                  <a:pt x="9372047" y="0"/>
                </a:lnTo>
                <a:lnTo>
                  <a:pt x="9372047" y="9462683"/>
                </a:lnTo>
                <a:lnTo>
                  <a:pt x="0" y="9462683"/>
                </a:lnTo>
                <a:lnTo>
                  <a:pt x="0" y="0"/>
                </a:lnTo>
                <a:close/>
              </a:path>
            </a:pathLst>
          </a:custGeom>
          <a:blipFill rotWithShape="1">
            <a:blip r:embed="rId3">
              <a:alphaModFix/>
            </a:blip>
            <a:stretch>
              <a:fillRect t="-24278" b="-24278"/>
            </a:stretch>
          </a:blipFill>
          <a:ln>
            <a:noFill/>
          </a:ln>
        </p:spPr>
        <p:txBody>
          <a:bodyPr/>
          <a:lstStyle/>
          <a:p>
            <a:endParaRPr lang="en-US"/>
          </a:p>
        </p:txBody>
      </p:sp>
      <p:sp>
        <p:nvSpPr>
          <p:cNvPr id="193" name="Google Shape;193;p23"/>
          <p:cNvSpPr/>
          <p:nvPr/>
        </p:nvSpPr>
        <p:spPr>
          <a:xfrm>
            <a:off x="-2211404" y="6406402"/>
            <a:ext cx="14175218" cy="11400367"/>
          </a:xfrm>
          <a:custGeom>
            <a:avLst/>
            <a:gdLst/>
            <a:ahLst/>
            <a:cxnLst/>
            <a:rect l="l" t="t" r="r" b="b"/>
            <a:pathLst>
              <a:path w="6679670" h="5372100" extrusionOk="0">
                <a:moveTo>
                  <a:pt x="5129000" y="0"/>
                </a:moveTo>
                <a:lnTo>
                  <a:pt x="1550670" y="0"/>
                </a:lnTo>
                <a:lnTo>
                  <a:pt x="0" y="2686050"/>
                </a:lnTo>
                <a:lnTo>
                  <a:pt x="1550670" y="5372100"/>
                </a:lnTo>
                <a:lnTo>
                  <a:pt x="5129000" y="5372100"/>
                </a:lnTo>
                <a:lnTo>
                  <a:pt x="6679670" y="2686050"/>
                </a:lnTo>
                <a:lnTo>
                  <a:pt x="5129000" y="0"/>
                </a:lnTo>
                <a:close/>
              </a:path>
            </a:pathLst>
          </a:custGeom>
          <a:solidFill>
            <a:srgbClr val="A066CB"/>
          </a:solidFill>
          <a:ln>
            <a:noFill/>
          </a:ln>
        </p:spPr>
        <p:txBody>
          <a:bodyPr/>
          <a:lstStyle/>
          <a:p>
            <a:endParaRPr lang="en-US"/>
          </a:p>
        </p:txBody>
      </p:sp>
      <p:sp>
        <p:nvSpPr>
          <p:cNvPr id="194" name="Google Shape;194;p23"/>
          <p:cNvSpPr/>
          <p:nvPr/>
        </p:nvSpPr>
        <p:spPr>
          <a:xfrm>
            <a:off x="-3281216" y="-2317640"/>
            <a:ext cx="14175218" cy="11400367"/>
          </a:xfrm>
          <a:custGeom>
            <a:avLst/>
            <a:gdLst/>
            <a:ahLst/>
            <a:cxnLst/>
            <a:rect l="l" t="t" r="r" b="b"/>
            <a:pathLst>
              <a:path w="6679670" h="5372100" extrusionOk="0">
                <a:moveTo>
                  <a:pt x="5129000" y="0"/>
                </a:moveTo>
                <a:lnTo>
                  <a:pt x="1550670" y="0"/>
                </a:lnTo>
                <a:lnTo>
                  <a:pt x="0" y="2686050"/>
                </a:lnTo>
                <a:lnTo>
                  <a:pt x="1550670" y="5372100"/>
                </a:lnTo>
                <a:lnTo>
                  <a:pt x="5129000" y="5372100"/>
                </a:lnTo>
                <a:lnTo>
                  <a:pt x="6679670" y="2686050"/>
                </a:lnTo>
                <a:lnTo>
                  <a:pt x="5129000" y="0"/>
                </a:lnTo>
                <a:close/>
              </a:path>
            </a:pathLst>
          </a:custGeom>
          <a:solidFill>
            <a:srgbClr val="1836B2"/>
          </a:solidFill>
          <a:ln>
            <a:noFill/>
          </a:ln>
        </p:spPr>
        <p:txBody>
          <a:bodyPr/>
          <a:lstStyle/>
          <a:p>
            <a:endParaRPr lang="en-US"/>
          </a:p>
        </p:txBody>
      </p:sp>
      <p:sp>
        <p:nvSpPr>
          <p:cNvPr id="195" name="Google Shape;195;p23"/>
          <p:cNvSpPr/>
          <p:nvPr/>
        </p:nvSpPr>
        <p:spPr>
          <a:xfrm>
            <a:off x="12537270" y="8702771"/>
            <a:ext cx="1330919" cy="759911"/>
          </a:xfrm>
          <a:custGeom>
            <a:avLst/>
            <a:gdLst/>
            <a:ahLst/>
            <a:cxnLst/>
            <a:rect l="l" t="t" r="r" b="b"/>
            <a:pathLst>
              <a:path w="1330919" h="759911" extrusionOk="0">
                <a:moveTo>
                  <a:pt x="0" y="0"/>
                </a:moveTo>
                <a:lnTo>
                  <a:pt x="1330919" y="0"/>
                </a:lnTo>
                <a:lnTo>
                  <a:pt x="1330919" y="759912"/>
                </a:lnTo>
                <a:lnTo>
                  <a:pt x="0" y="759912"/>
                </a:lnTo>
                <a:lnTo>
                  <a:pt x="0" y="0"/>
                </a:lnTo>
                <a:close/>
              </a:path>
            </a:pathLst>
          </a:custGeom>
          <a:blipFill rotWithShape="1">
            <a:blip r:embed="rId4">
              <a:alphaModFix/>
            </a:blip>
            <a:stretch>
              <a:fillRect t="-51572"/>
            </a:stretch>
          </a:blipFill>
          <a:ln>
            <a:noFill/>
          </a:ln>
        </p:spPr>
        <p:txBody>
          <a:bodyPr/>
          <a:lstStyle/>
          <a:p>
            <a:endParaRPr lang="en-US"/>
          </a:p>
        </p:txBody>
      </p:sp>
      <p:sp>
        <p:nvSpPr>
          <p:cNvPr id="196" name="Google Shape;196;p23"/>
          <p:cNvSpPr/>
          <p:nvPr/>
        </p:nvSpPr>
        <p:spPr>
          <a:xfrm>
            <a:off x="1028700" y="2131120"/>
            <a:ext cx="15594060" cy="3391708"/>
          </a:xfrm>
          <a:custGeom>
            <a:avLst/>
            <a:gdLst/>
            <a:ahLst/>
            <a:cxnLst/>
            <a:rect l="l" t="t" r="r" b="b"/>
            <a:pathLst>
              <a:path w="15594060" h="3391708" extrusionOk="0">
                <a:moveTo>
                  <a:pt x="0" y="0"/>
                </a:moveTo>
                <a:lnTo>
                  <a:pt x="15594060" y="0"/>
                </a:lnTo>
                <a:lnTo>
                  <a:pt x="15594060" y="3391708"/>
                </a:lnTo>
                <a:lnTo>
                  <a:pt x="0" y="3391708"/>
                </a:lnTo>
                <a:lnTo>
                  <a:pt x="0" y="0"/>
                </a:lnTo>
                <a:close/>
              </a:path>
            </a:pathLst>
          </a:custGeom>
          <a:blipFill rotWithShape="1">
            <a:blip r:embed="rId5">
              <a:alphaModFix/>
            </a:blip>
            <a:stretch>
              <a:fillRect/>
            </a:stretch>
          </a:blipFill>
          <a:ln>
            <a:noFill/>
          </a:ln>
        </p:spPr>
        <p:txBody>
          <a:bodyPr/>
          <a:lstStyle/>
          <a:p>
            <a:endParaRPr lang="en-US"/>
          </a:p>
        </p:txBody>
      </p:sp>
      <p:sp>
        <p:nvSpPr>
          <p:cNvPr id="197" name="Google Shape;197;p23"/>
          <p:cNvSpPr/>
          <p:nvPr/>
        </p:nvSpPr>
        <p:spPr>
          <a:xfrm>
            <a:off x="1028700" y="6043911"/>
            <a:ext cx="10461813" cy="466177"/>
          </a:xfrm>
          <a:custGeom>
            <a:avLst/>
            <a:gdLst/>
            <a:ahLst/>
            <a:cxnLst/>
            <a:rect l="l" t="t" r="r" b="b"/>
            <a:pathLst>
              <a:path w="10461813" h="466177" extrusionOk="0">
                <a:moveTo>
                  <a:pt x="0" y="0"/>
                </a:moveTo>
                <a:lnTo>
                  <a:pt x="10461813" y="0"/>
                </a:lnTo>
                <a:lnTo>
                  <a:pt x="10461813" y="466177"/>
                </a:lnTo>
                <a:lnTo>
                  <a:pt x="0" y="466177"/>
                </a:lnTo>
                <a:lnTo>
                  <a:pt x="0" y="0"/>
                </a:lnTo>
                <a:close/>
              </a:path>
            </a:pathLst>
          </a:custGeom>
          <a:blipFill rotWithShape="1">
            <a:blip r:embed="rId6">
              <a:alphaModFix/>
            </a:blip>
            <a:stretch>
              <a:fillRect r="-8021"/>
            </a:stretch>
          </a:blipFill>
          <a:ln>
            <a:noFill/>
          </a:ln>
        </p:spPr>
        <p:txBody>
          <a:bodyPr/>
          <a:lstStyle/>
          <a:p>
            <a:endParaRPr lang="en-US"/>
          </a:p>
        </p:txBody>
      </p:sp>
      <p:sp>
        <p:nvSpPr>
          <p:cNvPr id="198" name="Google Shape;198;p23"/>
          <p:cNvSpPr txBox="1"/>
          <p:nvPr/>
        </p:nvSpPr>
        <p:spPr>
          <a:xfrm>
            <a:off x="433456" y="326263"/>
            <a:ext cx="14190730" cy="1414399"/>
          </a:xfrm>
          <a:prstGeom prst="rect">
            <a:avLst/>
          </a:prstGeom>
          <a:no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9350" b="1" i="0" u="none" strike="noStrike" cap="none">
                <a:solidFill>
                  <a:srgbClr val="FFFFFF"/>
                </a:solidFill>
                <a:latin typeface="Asap SemiBold"/>
                <a:ea typeface="Asap SemiBold"/>
                <a:cs typeface="Asap SemiBold"/>
                <a:sym typeface="Asap SemiBold"/>
              </a:rPr>
              <a:t>Sơ đồ PERT và đường găng</a:t>
            </a:r>
            <a:endParaRPr/>
          </a:p>
        </p:txBody>
      </p:sp>
      <p:sp>
        <p:nvSpPr>
          <p:cNvPr id="199" name="Google Shape;199;p23"/>
          <p:cNvSpPr txBox="1"/>
          <p:nvPr/>
        </p:nvSpPr>
        <p:spPr>
          <a:xfrm>
            <a:off x="1028700" y="5580135"/>
            <a:ext cx="6357342"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rgbClr val="FFFFFF"/>
                </a:solidFill>
                <a:latin typeface="Asap SemiBold"/>
                <a:ea typeface="Asap SemiBold"/>
                <a:cs typeface="Asap SemiBold"/>
                <a:sym typeface="Asap SemiBold"/>
              </a:rPr>
              <a:t>ĐƯỜNG GĂNG (Critical Path) – Sau khi rút ngắn</a:t>
            </a:r>
            <a:endParaRPr/>
          </a:p>
        </p:txBody>
      </p:sp>
      <p:sp>
        <p:nvSpPr>
          <p:cNvPr id="200" name="Google Shape;200;p23"/>
          <p:cNvSpPr txBox="1"/>
          <p:nvPr/>
        </p:nvSpPr>
        <p:spPr>
          <a:xfrm>
            <a:off x="1028700" y="7694334"/>
            <a:ext cx="4025503" cy="718145"/>
          </a:xfrm>
          <a:prstGeom prst="rect">
            <a:avLst/>
          </a:prstGeom>
          <a:no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Công việc Critical: 23 tasks</a:t>
            </a:r>
            <a:endParaRPr/>
          </a:p>
          <a:p>
            <a:pPr marL="0" marR="0" lvl="0" indent="0" algn="l"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Công việc Non-critical: 6 tasks</a:t>
            </a:r>
            <a:endParaRPr/>
          </a:p>
        </p:txBody>
      </p:sp>
      <p:sp>
        <p:nvSpPr>
          <p:cNvPr id="201" name="Google Shape;201;p23"/>
          <p:cNvSpPr txBox="1"/>
          <p:nvPr/>
        </p:nvSpPr>
        <p:spPr>
          <a:xfrm>
            <a:off x="529203" y="7335813"/>
            <a:ext cx="4176713"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Thời gian dự án: 25 ngày</a:t>
            </a:r>
            <a:endParaRPr sz="2400" b="1" i="0" u="none" strike="noStrike" cap="none">
              <a:solidFill>
                <a:schemeClr val="lt1"/>
              </a:solidFill>
              <a:latin typeface="Asap SemiBold"/>
              <a:ea typeface="Asap SemiBold"/>
              <a:cs typeface="Asap SemiBold"/>
              <a:sym typeface="Asap SemiBold"/>
            </a:endParaRPr>
          </a:p>
        </p:txBody>
      </p:sp>
      <p:sp>
        <p:nvSpPr>
          <p:cNvPr id="202" name="Google Shape;202;p23"/>
          <p:cNvSpPr txBox="1"/>
          <p:nvPr/>
        </p:nvSpPr>
        <p:spPr>
          <a:xfrm>
            <a:off x="1028700" y="1772599"/>
            <a:ext cx="3847505"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rgbClr val="FFFFFF"/>
                </a:solidFill>
                <a:latin typeface="Asap SemiBold"/>
                <a:ea typeface="Asap SemiBold"/>
                <a:cs typeface="Asap SemiBold"/>
                <a:sym typeface="Asap SemiBold"/>
              </a:rPr>
              <a:t>Sơ đồ Pert – Sau khi rút ngắn</a:t>
            </a:r>
            <a:endParaRPr/>
          </a:p>
        </p:txBody>
      </p:sp>
      <p:sp>
        <p:nvSpPr>
          <p:cNvPr id="203" name="Google Shape;203;p23"/>
          <p:cNvSpPr txBox="1"/>
          <p:nvPr/>
        </p:nvSpPr>
        <p:spPr>
          <a:xfrm>
            <a:off x="1028700" y="6615342"/>
            <a:ext cx="7290742" cy="718145"/>
          </a:xfrm>
          <a:prstGeom prst="rect">
            <a:avLst/>
          </a:prstGeom>
          <a:no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Tổng số công việc: 35 tasks (bao gồm Summary).</a:t>
            </a:r>
            <a:endParaRPr/>
          </a:p>
          <a:p>
            <a:pPr marL="0" marR="0" lvl="0" indent="0" algn="l"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Số công việc chi tiết: 29 tasks.</a:t>
            </a:r>
            <a:endParaRPr/>
          </a:p>
        </p:txBody>
      </p:sp>
      <p:sp>
        <p:nvSpPr>
          <p:cNvPr id="204" name="Google Shape;204;p23"/>
          <p:cNvSpPr txBox="1"/>
          <p:nvPr/>
        </p:nvSpPr>
        <p:spPr>
          <a:xfrm>
            <a:off x="885740" y="8415764"/>
            <a:ext cx="3276600"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Rút ngắn được: 6 ngày</a:t>
            </a:r>
            <a:endParaRPr sz="2400" b="1" i="0" u="none" strike="noStrike" cap="none">
              <a:solidFill>
                <a:schemeClr val="lt1"/>
              </a:solidFill>
              <a:latin typeface="Asap SemiBold"/>
              <a:ea typeface="Asap SemiBold"/>
              <a:cs typeface="Asap SemiBold"/>
              <a:sym typeface="Asap SemiBold"/>
            </a:endParaRPr>
          </a:p>
        </p:txBody>
      </p:sp>
      <p:sp>
        <p:nvSpPr>
          <p:cNvPr id="205" name="Google Shape;205;p23"/>
          <p:cNvSpPr txBox="1"/>
          <p:nvPr/>
        </p:nvSpPr>
        <p:spPr>
          <a:xfrm>
            <a:off x="828485" y="8784770"/>
            <a:ext cx="3391111" cy="358521"/>
          </a:xfrm>
          <a:prstGeom prst="rect">
            <a:avLst/>
          </a:prstGeom>
          <a:noFill/>
          <a:ln>
            <a:noFill/>
          </a:ln>
        </p:spPr>
        <p:txBody>
          <a:bodyPr spcFirstLastPara="1" wrap="square" lIns="0" tIns="0" rIns="0" bIns="0" anchor="t" anchorCtr="0">
            <a:spAutoFit/>
          </a:bodyPr>
          <a:lstStyle/>
          <a:p>
            <a:pPr marL="0" marR="0" lvl="0" indent="0" algn="ctr" rtl="0">
              <a:lnSpc>
                <a:spcPct val="117999"/>
              </a:lnSpc>
              <a:spcBef>
                <a:spcPts val="0"/>
              </a:spcBef>
              <a:spcAft>
                <a:spcPts val="0"/>
              </a:spcAft>
              <a:buNone/>
            </a:pPr>
            <a:r>
              <a:rPr lang="en-US" sz="2400" b="1" i="0" u="none" strike="noStrike" cap="none">
                <a:solidFill>
                  <a:schemeClr val="lt1"/>
                </a:solidFill>
                <a:latin typeface="Asap SemiBold"/>
                <a:ea typeface="Asap SemiBold"/>
                <a:cs typeface="Asap SemiBold"/>
                <a:sym typeface="Asap SemiBold"/>
              </a:rPr>
              <a:t>Tổng tiền giảm : 192 $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p:nvPr/>
        </p:nvSpPr>
        <p:spPr>
          <a:xfrm>
            <a:off x="7327734" y="-4222570"/>
            <a:ext cx="13267742" cy="6921093"/>
          </a:xfrm>
          <a:custGeom>
            <a:avLst/>
            <a:gdLst/>
            <a:ahLst/>
            <a:cxnLst/>
            <a:rect l="l" t="t" r="r" b="b"/>
            <a:pathLst>
              <a:path w="10298322" h="5372100" extrusionOk="0">
                <a:moveTo>
                  <a:pt x="8747651" y="0"/>
                </a:moveTo>
                <a:lnTo>
                  <a:pt x="1550670" y="0"/>
                </a:lnTo>
                <a:lnTo>
                  <a:pt x="0" y="2686050"/>
                </a:lnTo>
                <a:lnTo>
                  <a:pt x="1550670" y="5372100"/>
                </a:lnTo>
                <a:lnTo>
                  <a:pt x="8747651" y="5372100"/>
                </a:lnTo>
                <a:lnTo>
                  <a:pt x="10298322" y="2686050"/>
                </a:lnTo>
                <a:lnTo>
                  <a:pt x="8747651" y="0"/>
                </a:lnTo>
                <a:close/>
              </a:path>
            </a:pathLst>
          </a:custGeom>
          <a:solidFill>
            <a:srgbClr val="86C7ED"/>
          </a:solidFill>
          <a:ln>
            <a:noFill/>
          </a:ln>
        </p:spPr>
        <p:txBody>
          <a:bodyPr/>
          <a:lstStyle/>
          <a:p>
            <a:endParaRPr lang="en-US"/>
          </a:p>
        </p:txBody>
      </p:sp>
      <p:grpSp>
        <p:nvGrpSpPr>
          <p:cNvPr id="211" name="Google Shape;211;p24"/>
          <p:cNvGrpSpPr/>
          <p:nvPr/>
        </p:nvGrpSpPr>
        <p:grpSpPr>
          <a:xfrm>
            <a:off x="-679499" y="0"/>
            <a:ext cx="6526137" cy="1330370"/>
            <a:chOff x="0" y="0"/>
            <a:chExt cx="8701516" cy="1773827"/>
          </a:xfrm>
        </p:grpSpPr>
        <p:sp>
          <p:nvSpPr>
            <p:cNvPr id="212" name="Google Shape;212;p24"/>
            <p:cNvSpPr/>
            <p:nvPr/>
          </p:nvSpPr>
          <p:spPr>
            <a:xfrm rot="10800000">
              <a:off x="0" y="0"/>
              <a:ext cx="8701516" cy="1773827"/>
            </a:xfrm>
            <a:custGeom>
              <a:avLst/>
              <a:gdLst/>
              <a:ahLst/>
              <a:cxnLst/>
              <a:rect l="l" t="t" r="r" b="b"/>
              <a:pathLst>
                <a:path w="26352860" h="5372100" extrusionOk="0">
                  <a:moveTo>
                    <a:pt x="24802190" y="0"/>
                  </a:moveTo>
                  <a:lnTo>
                    <a:pt x="1550670" y="0"/>
                  </a:lnTo>
                  <a:lnTo>
                    <a:pt x="0" y="2686050"/>
                  </a:lnTo>
                  <a:lnTo>
                    <a:pt x="1550670" y="5372100"/>
                  </a:lnTo>
                  <a:lnTo>
                    <a:pt x="24802190" y="5372100"/>
                  </a:lnTo>
                  <a:lnTo>
                    <a:pt x="26352860" y="2686050"/>
                  </a:lnTo>
                  <a:lnTo>
                    <a:pt x="24802190" y="0"/>
                  </a:lnTo>
                  <a:close/>
                </a:path>
              </a:pathLst>
            </a:custGeom>
            <a:solidFill>
              <a:srgbClr val="1836B2"/>
            </a:solidFill>
            <a:ln>
              <a:noFill/>
            </a:ln>
          </p:spPr>
          <p:txBody>
            <a:bodyPr/>
            <a:lstStyle/>
            <a:p>
              <a:endParaRPr lang="en-US"/>
            </a:p>
          </p:txBody>
        </p:sp>
        <p:sp>
          <p:nvSpPr>
            <p:cNvPr id="213" name="Google Shape;213;p24"/>
            <p:cNvSpPr txBox="1"/>
            <p:nvPr/>
          </p:nvSpPr>
          <p:spPr>
            <a:xfrm>
              <a:off x="1395407" y="496822"/>
              <a:ext cx="6269617" cy="81828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4260" b="1" i="0" u="none" strike="noStrike" cap="none">
                  <a:solidFill>
                    <a:srgbClr val="FFFFFF"/>
                  </a:solidFill>
                  <a:latin typeface="Asap SemiBold"/>
                  <a:ea typeface="Asap SemiBold"/>
                  <a:cs typeface="Asap SemiBold"/>
                  <a:sym typeface="Asap SemiBold"/>
                </a:rPr>
                <a:t>Quản lý dự án </a:t>
              </a:r>
              <a:endParaRPr/>
            </a:p>
          </p:txBody>
        </p:sp>
      </p:grpSp>
      <p:sp>
        <p:nvSpPr>
          <p:cNvPr id="214" name="Google Shape;214;p24"/>
          <p:cNvSpPr/>
          <p:nvPr/>
        </p:nvSpPr>
        <p:spPr>
          <a:xfrm>
            <a:off x="1471317" y="1330370"/>
            <a:ext cx="14984944" cy="7927930"/>
          </a:xfrm>
          <a:custGeom>
            <a:avLst/>
            <a:gdLst/>
            <a:ahLst/>
            <a:cxnLst/>
            <a:rect l="l" t="t" r="r" b="b"/>
            <a:pathLst>
              <a:path w="14984944" h="7927930" extrusionOk="0">
                <a:moveTo>
                  <a:pt x="0" y="0"/>
                </a:moveTo>
                <a:lnTo>
                  <a:pt x="14984944" y="0"/>
                </a:lnTo>
                <a:lnTo>
                  <a:pt x="14984944" y="7927930"/>
                </a:lnTo>
                <a:lnTo>
                  <a:pt x="0" y="7927930"/>
                </a:lnTo>
                <a:lnTo>
                  <a:pt x="0" y="0"/>
                </a:lnTo>
                <a:close/>
              </a:path>
            </a:pathLst>
          </a:custGeom>
          <a:blipFill rotWithShape="1">
            <a:blip r:embed="rId3">
              <a:alphaModFix/>
            </a:blip>
            <a:stretch>
              <a:fillRect t="-3175" r="-4680" b="-3175"/>
            </a:stretch>
          </a:blipFill>
          <a:ln>
            <a:no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218"/>
        <p:cNvGrpSpPr/>
        <p:nvPr/>
      </p:nvGrpSpPr>
      <p:grpSpPr>
        <a:xfrm>
          <a:off x="0" y="0"/>
          <a:ext cx="0" cy="0"/>
          <a:chOff x="0" y="0"/>
          <a:chExt cx="0" cy="0"/>
        </a:xfrm>
      </p:grpSpPr>
      <p:sp>
        <p:nvSpPr>
          <p:cNvPr id="219" name="Google Shape;219;p25"/>
          <p:cNvSpPr/>
          <p:nvPr/>
        </p:nvSpPr>
        <p:spPr>
          <a:xfrm>
            <a:off x="0" y="10010325"/>
            <a:ext cx="16230600" cy="427071"/>
          </a:xfrm>
          <a:prstGeom prst="rect">
            <a:avLst/>
          </a:prstGeom>
          <a:solidFill>
            <a:srgbClr val="183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5"/>
          <p:cNvSpPr/>
          <p:nvPr/>
        </p:nvSpPr>
        <p:spPr>
          <a:xfrm rot="10800000">
            <a:off x="10470576" y="9350625"/>
            <a:ext cx="9936532" cy="1872750"/>
          </a:xfrm>
          <a:custGeom>
            <a:avLst/>
            <a:gdLst/>
            <a:ahLst/>
            <a:cxnLst/>
            <a:rect l="l" t="t" r="r" b="b"/>
            <a:pathLst>
              <a:path w="28503569" h="5372100" extrusionOk="0">
                <a:moveTo>
                  <a:pt x="26952897" y="0"/>
                </a:moveTo>
                <a:lnTo>
                  <a:pt x="1550670" y="0"/>
                </a:lnTo>
                <a:lnTo>
                  <a:pt x="0" y="2686050"/>
                </a:lnTo>
                <a:lnTo>
                  <a:pt x="1550670" y="5372100"/>
                </a:lnTo>
                <a:lnTo>
                  <a:pt x="26952897" y="5372100"/>
                </a:lnTo>
                <a:lnTo>
                  <a:pt x="28503569" y="2686050"/>
                </a:lnTo>
                <a:lnTo>
                  <a:pt x="26952897" y="0"/>
                </a:lnTo>
                <a:close/>
              </a:path>
            </a:pathLst>
          </a:custGeom>
          <a:solidFill>
            <a:srgbClr val="86C7ED"/>
          </a:solidFill>
          <a:ln>
            <a:noFill/>
          </a:ln>
        </p:spPr>
        <p:txBody>
          <a:bodyPr/>
          <a:lstStyle/>
          <a:p>
            <a:endParaRPr lang="en-US"/>
          </a:p>
        </p:txBody>
      </p:sp>
      <p:sp>
        <p:nvSpPr>
          <p:cNvPr id="221" name="Google Shape;221;p25"/>
          <p:cNvSpPr/>
          <p:nvPr/>
        </p:nvSpPr>
        <p:spPr>
          <a:xfrm>
            <a:off x="1488558" y="1028700"/>
            <a:ext cx="15310884" cy="8229600"/>
          </a:xfrm>
          <a:custGeom>
            <a:avLst/>
            <a:gdLst/>
            <a:ahLst/>
            <a:cxnLst/>
            <a:rect l="l" t="t" r="r" b="b"/>
            <a:pathLst>
              <a:path w="15310884" h="8229600" extrusionOk="0">
                <a:moveTo>
                  <a:pt x="0" y="0"/>
                </a:moveTo>
                <a:lnTo>
                  <a:pt x="15310884" y="0"/>
                </a:lnTo>
                <a:lnTo>
                  <a:pt x="15310884" y="8229600"/>
                </a:lnTo>
                <a:lnTo>
                  <a:pt x="0" y="8229600"/>
                </a:lnTo>
                <a:lnTo>
                  <a:pt x="0" y="0"/>
                </a:lnTo>
                <a:close/>
              </a:path>
            </a:pathLst>
          </a:custGeom>
          <a:blipFill rotWithShape="1">
            <a:blip r:embed="rId3">
              <a:alphaModFix/>
            </a:blip>
            <a:stretch>
              <a:fillRect/>
            </a:stretch>
          </a:blipFill>
          <a:ln>
            <a:noFill/>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225"/>
        <p:cNvGrpSpPr/>
        <p:nvPr/>
      </p:nvGrpSpPr>
      <p:grpSpPr>
        <a:xfrm>
          <a:off x="0" y="0"/>
          <a:ext cx="0" cy="0"/>
          <a:chOff x="0" y="0"/>
          <a:chExt cx="0" cy="0"/>
        </a:xfrm>
      </p:grpSpPr>
      <p:sp>
        <p:nvSpPr>
          <p:cNvPr id="226" name="Google Shape;226;p26"/>
          <p:cNvSpPr/>
          <p:nvPr/>
        </p:nvSpPr>
        <p:spPr>
          <a:xfrm>
            <a:off x="0" y="10010325"/>
            <a:ext cx="16230600" cy="427071"/>
          </a:xfrm>
          <a:prstGeom prst="rect">
            <a:avLst/>
          </a:prstGeom>
          <a:solidFill>
            <a:srgbClr val="183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6"/>
          <p:cNvSpPr/>
          <p:nvPr/>
        </p:nvSpPr>
        <p:spPr>
          <a:xfrm rot="10800000">
            <a:off x="10470576" y="9350625"/>
            <a:ext cx="9936532" cy="1872750"/>
          </a:xfrm>
          <a:custGeom>
            <a:avLst/>
            <a:gdLst/>
            <a:ahLst/>
            <a:cxnLst/>
            <a:rect l="l" t="t" r="r" b="b"/>
            <a:pathLst>
              <a:path w="28503569" h="5372100" extrusionOk="0">
                <a:moveTo>
                  <a:pt x="26952897" y="0"/>
                </a:moveTo>
                <a:lnTo>
                  <a:pt x="1550670" y="0"/>
                </a:lnTo>
                <a:lnTo>
                  <a:pt x="0" y="2686050"/>
                </a:lnTo>
                <a:lnTo>
                  <a:pt x="1550670" y="5372100"/>
                </a:lnTo>
                <a:lnTo>
                  <a:pt x="26952897" y="5372100"/>
                </a:lnTo>
                <a:lnTo>
                  <a:pt x="28503569" y="2686050"/>
                </a:lnTo>
                <a:lnTo>
                  <a:pt x="26952897" y="0"/>
                </a:lnTo>
                <a:close/>
              </a:path>
            </a:pathLst>
          </a:custGeom>
          <a:solidFill>
            <a:srgbClr val="86C7ED"/>
          </a:solidFill>
          <a:ln>
            <a:noFill/>
          </a:ln>
        </p:spPr>
        <p:txBody>
          <a:bodyPr/>
          <a:lstStyle/>
          <a:p>
            <a:endParaRPr lang="en-US"/>
          </a:p>
        </p:txBody>
      </p:sp>
      <p:sp>
        <p:nvSpPr>
          <p:cNvPr id="228" name="Google Shape;228;p26"/>
          <p:cNvSpPr/>
          <p:nvPr/>
        </p:nvSpPr>
        <p:spPr>
          <a:xfrm>
            <a:off x="1028700" y="1028700"/>
            <a:ext cx="16230600" cy="8723948"/>
          </a:xfrm>
          <a:custGeom>
            <a:avLst/>
            <a:gdLst/>
            <a:ahLst/>
            <a:cxnLst/>
            <a:rect l="l" t="t" r="r" b="b"/>
            <a:pathLst>
              <a:path w="16230600" h="8723948" extrusionOk="0">
                <a:moveTo>
                  <a:pt x="0" y="0"/>
                </a:moveTo>
                <a:lnTo>
                  <a:pt x="16230600" y="0"/>
                </a:lnTo>
                <a:lnTo>
                  <a:pt x="16230600" y="8723948"/>
                </a:lnTo>
                <a:lnTo>
                  <a:pt x="0" y="8723948"/>
                </a:lnTo>
                <a:lnTo>
                  <a:pt x="0" y="0"/>
                </a:lnTo>
                <a:close/>
              </a:path>
            </a:pathLst>
          </a:custGeom>
          <a:blipFill rotWithShape="1">
            <a:blip r:embed="rId3">
              <a:alphaModFix/>
            </a:blip>
            <a:stretch>
              <a:fillRect/>
            </a:stretch>
          </a:blipFill>
          <a:ln>
            <a:noFill/>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232"/>
        <p:cNvGrpSpPr/>
        <p:nvPr/>
      </p:nvGrpSpPr>
      <p:grpSpPr>
        <a:xfrm>
          <a:off x="0" y="0"/>
          <a:ext cx="0" cy="0"/>
          <a:chOff x="0" y="0"/>
          <a:chExt cx="0" cy="0"/>
        </a:xfrm>
      </p:grpSpPr>
      <p:sp>
        <p:nvSpPr>
          <p:cNvPr id="233" name="Google Shape;233;p27"/>
          <p:cNvSpPr/>
          <p:nvPr/>
        </p:nvSpPr>
        <p:spPr>
          <a:xfrm>
            <a:off x="0" y="10010325"/>
            <a:ext cx="16230600" cy="427071"/>
          </a:xfrm>
          <a:prstGeom prst="rect">
            <a:avLst/>
          </a:prstGeom>
          <a:solidFill>
            <a:srgbClr val="183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7"/>
          <p:cNvSpPr/>
          <p:nvPr/>
        </p:nvSpPr>
        <p:spPr>
          <a:xfrm rot="10800000">
            <a:off x="10470576" y="9350625"/>
            <a:ext cx="9936532" cy="1872750"/>
          </a:xfrm>
          <a:custGeom>
            <a:avLst/>
            <a:gdLst/>
            <a:ahLst/>
            <a:cxnLst/>
            <a:rect l="l" t="t" r="r" b="b"/>
            <a:pathLst>
              <a:path w="28503569" h="5372100" extrusionOk="0">
                <a:moveTo>
                  <a:pt x="26952897" y="0"/>
                </a:moveTo>
                <a:lnTo>
                  <a:pt x="1550670" y="0"/>
                </a:lnTo>
                <a:lnTo>
                  <a:pt x="0" y="2686050"/>
                </a:lnTo>
                <a:lnTo>
                  <a:pt x="1550670" y="5372100"/>
                </a:lnTo>
                <a:lnTo>
                  <a:pt x="26952897" y="5372100"/>
                </a:lnTo>
                <a:lnTo>
                  <a:pt x="28503569" y="2686050"/>
                </a:lnTo>
                <a:lnTo>
                  <a:pt x="26952897" y="0"/>
                </a:lnTo>
                <a:close/>
              </a:path>
            </a:pathLst>
          </a:custGeom>
          <a:solidFill>
            <a:srgbClr val="86C7ED"/>
          </a:solidFill>
          <a:ln>
            <a:noFill/>
          </a:ln>
        </p:spPr>
        <p:txBody>
          <a:bodyPr/>
          <a:lstStyle/>
          <a:p>
            <a:endParaRPr lang="en-US"/>
          </a:p>
        </p:txBody>
      </p:sp>
      <p:sp>
        <p:nvSpPr>
          <p:cNvPr id="235" name="Google Shape;235;p27"/>
          <p:cNvSpPr/>
          <p:nvPr/>
        </p:nvSpPr>
        <p:spPr>
          <a:xfrm>
            <a:off x="1028700" y="1351027"/>
            <a:ext cx="11301259" cy="5085567"/>
          </a:xfrm>
          <a:custGeom>
            <a:avLst/>
            <a:gdLst/>
            <a:ahLst/>
            <a:cxnLst/>
            <a:rect l="l" t="t" r="r" b="b"/>
            <a:pathLst>
              <a:path w="11301259" h="5085567" extrusionOk="0">
                <a:moveTo>
                  <a:pt x="0" y="0"/>
                </a:moveTo>
                <a:lnTo>
                  <a:pt x="11301259" y="0"/>
                </a:lnTo>
                <a:lnTo>
                  <a:pt x="11301259" y="5085566"/>
                </a:lnTo>
                <a:lnTo>
                  <a:pt x="0" y="5085566"/>
                </a:lnTo>
                <a:lnTo>
                  <a:pt x="0" y="0"/>
                </a:lnTo>
                <a:close/>
              </a:path>
            </a:pathLst>
          </a:custGeom>
          <a:blipFill rotWithShape="1">
            <a:blip r:embed="rId3">
              <a:alphaModFix/>
            </a:blip>
            <a:stretch>
              <a:fillRect/>
            </a:stretch>
          </a:blipFill>
          <a:ln>
            <a:noFill/>
          </a:ln>
        </p:spPr>
        <p:txBody>
          <a:bodyPr/>
          <a:lstStyle/>
          <a:p>
            <a:endParaRPr lang="en-US"/>
          </a:p>
        </p:txBody>
      </p:sp>
      <p:sp>
        <p:nvSpPr>
          <p:cNvPr id="236" name="Google Shape;236;p27"/>
          <p:cNvSpPr/>
          <p:nvPr/>
        </p:nvSpPr>
        <p:spPr>
          <a:xfrm>
            <a:off x="8570362" y="6436593"/>
            <a:ext cx="8688938" cy="3269213"/>
          </a:xfrm>
          <a:custGeom>
            <a:avLst/>
            <a:gdLst/>
            <a:ahLst/>
            <a:cxnLst/>
            <a:rect l="l" t="t" r="r" b="b"/>
            <a:pathLst>
              <a:path w="8688938" h="3269213" extrusionOk="0">
                <a:moveTo>
                  <a:pt x="0" y="0"/>
                </a:moveTo>
                <a:lnTo>
                  <a:pt x="8688938" y="0"/>
                </a:lnTo>
                <a:lnTo>
                  <a:pt x="8688938" y="3269213"/>
                </a:lnTo>
                <a:lnTo>
                  <a:pt x="0" y="3269213"/>
                </a:lnTo>
                <a:lnTo>
                  <a:pt x="0" y="0"/>
                </a:lnTo>
                <a:close/>
              </a:path>
            </a:pathLst>
          </a:custGeom>
          <a:blipFill rotWithShape="1">
            <a:blip r:embed="rId4">
              <a:alphaModFix/>
            </a:blip>
            <a:stretch>
              <a:fillRect/>
            </a:stretch>
          </a:blipFill>
          <a:ln>
            <a:noFill/>
          </a:ln>
        </p:spPr>
        <p:txBody>
          <a:bodyPr/>
          <a:lstStyle/>
          <a:p>
            <a:endParaRPr lang="en-US"/>
          </a:p>
        </p:txBody>
      </p:sp>
      <p:sp>
        <p:nvSpPr>
          <p:cNvPr id="237" name="Google Shape;237;p27"/>
          <p:cNvSpPr txBox="1"/>
          <p:nvPr/>
        </p:nvSpPr>
        <p:spPr>
          <a:xfrm>
            <a:off x="1028700" y="744473"/>
            <a:ext cx="2713286" cy="606553"/>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260" b="1" i="0" u="none" strike="noStrike" cap="none">
                <a:solidFill>
                  <a:srgbClr val="FFFFFF"/>
                </a:solidFill>
                <a:latin typeface="Asap SemiBold"/>
                <a:ea typeface="Asap SemiBold"/>
                <a:cs typeface="Asap SemiBold"/>
                <a:sym typeface="Asap SemiBold"/>
              </a:rPr>
              <a:t>Sơ đồ gantt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836B2"/>
        </a:solidFill>
        <a:effectLst/>
      </p:bgPr>
    </p:bg>
    <p:spTree>
      <p:nvGrpSpPr>
        <p:cNvPr id="1" name="Shape 241"/>
        <p:cNvGrpSpPr/>
        <p:nvPr/>
      </p:nvGrpSpPr>
      <p:grpSpPr>
        <a:xfrm>
          <a:off x="0" y="0"/>
          <a:ext cx="0" cy="0"/>
          <a:chOff x="0" y="0"/>
          <a:chExt cx="0" cy="0"/>
        </a:xfrm>
      </p:grpSpPr>
      <p:sp>
        <p:nvSpPr>
          <p:cNvPr id="242" name="Google Shape;242;p28"/>
          <p:cNvSpPr/>
          <p:nvPr/>
        </p:nvSpPr>
        <p:spPr>
          <a:xfrm>
            <a:off x="12834808" y="-205809"/>
            <a:ext cx="6044632" cy="3451286"/>
          </a:xfrm>
          <a:custGeom>
            <a:avLst/>
            <a:gdLst/>
            <a:ahLst/>
            <a:cxnLst/>
            <a:rect l="l" t="t" r="r" b="b"/>
            <a:pathLst>
              <a:path w="6044632" h="3451286" extrusionOk="0">
                <a:moveTo>
                  <a:pt x="0" y="0"/>
                </a:moveTo>
                <a:lnTo>
                  <a:pt x="6044632" y="0"/>
                </a:lnTo>
                <a:lnTo>
                  <a:pt x="6044632" y="3451287"/>
                </a:lnTo>
                <a:lnTo>
                  <a:pt x="0" y="3451287"/>
                </a:lnTo>
                <a:lnTo>
                  <a:pt x="0" y="0"/>
                </a:lnTo>
                <a:close/>
              </a:path>
            </a:pathLst>
          </a:custGeom>
          <a:blipFill rotWithShape="1">
            <a:blip r:embed="rId3">
              <a:alphaModFix/>
            </a:blip>
            <a:stretch>
              <a:fillRect t="-51572"/>
            </a:stretch>
          </a:blipFill>
          <a:ln>
            <a:noFill/>
          </a:ln>
        </p:spPr>
        <p:txBody>
          <a:bodyPr/>
          <a:lstStyle/>
          <a:p>
            <a:endParaRPr lang="en-US"/>
          </a:p>
        </p:txBody>
      </p:sp>
      <p:sp>
        <p:nvSpPr>
          <p:cNvPr id="243" name="Google Shape;243;p28"/>
          <p:cNvSpPr/>
          <p:nvPr/>
        </p:nvSpPr>
        <p:spPr>
          <a:xfrm flipH="1">
            <a:off x="-590291" y="6724549"/>
            <a:ext cx="6630572" cy="3785839"/>
          </a:xfrm>
          <a:custGeom>
            <a:avLst/>
            <a:gdLst/>
            <a:ahLst/>
            <a:cxnLst/>
            <a:rect l="l" t="t" r="r" b="b"/>
            <a:pathLst>
              <a:path w="6630572" h="3785839" extrusionOk="0">
                <a:moveTo>
                  <a:pt x="6630572" y="0"/>
                </a:moveTo>
                <a:lnTo>
                  <a:pt x="0" y="0"/>
                </a:lnTo>
                <a:lnTo>
                  <a:pt x="0" y="3785839"/>
                </a:lnTo>
                <a:lnTo>
                  <a:pt x="6630572" y="3785839"/>
                </a:lnTo>
                <a:lnTo>
                  <a:pt x="6630572" y="0"/>
                </a:lnTo>
                <a:close/>
              </a:path>
            </a:pathLst>
          </a:custGeom>
          <a:blipFill rotWithShape="1">
            <a:blip r:embed="rId3">
              <a:alphaModFix/>
            </a:blip>
            <a:stretch>
              <a:fillRect t="-51572"/>
            </a:stretch>
          </a:blipFill>
          <a:ln>
            <a:noFill/>
          </a:ln>
        </p:spPr>
        <p:txBody>
          <a:bodyPr/>
          <a:lstStyle/>
          <a:p>
            <a:endParaRPr lang="en-US"/>
          </a:p>
        </p:txBody>
      </p:sp>
      <p:sp>
        <p:nvSpPr>
          <p:cNvPr id="244" name="Google Shape;244;p28"/>
          <p:cNvSpPr/>
          <p:nvPr/>
        </p:nvSpPr>
        <p:spPr>
          <a:xfrm>
            <a:off x="1258629" y="1028700"/>
            <a:ext cx="15770742" cy="8476774"/>
          </a:xfrm>
          <a:custGeom>
            <a:avLst/>
            <a:gdLst/>
            <a:ahLst/>
            <a:cxnLst/>
            <a:rect l="l" t="t" r="r" b="b"/>
            <a:pathLst>
              <a:path w="15770742" h="8476774" extrusionOk="0">
                <a:moveTo>
                  <a:pt x="0" y="0"/>
                </a:moveTo>
                <a:lnTo>
                  <a:pt x="15770742" y="0"/>
                </a:lnTo>
                <a:lnTo>
                  <a:pt x="15770742" y="8476774"/>
                </a:lnTo>
                <a:lnTo>
                  <a:pt x="0" y="8476774"/>
                </a:lnTo>
                <a:lnTo>
                  <a:pt x="0" y="0"/>
                </a:lnTo>
                <a:close/>
              </a:path>
            </a:pathLst>
          </a:custGeom>
          <a:blipFill rotWithShape="1">
            <a:blip r:embed="rId4">
              <a:alphaModFix/>
            </a:blip>
            <a:stretch>
              <a:fillRect/>
            </a:stretch>
          </a:blipFill>
          <a:ln>
            <a:noFill/>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248"/>
        <p:cNvGrpSpPr/>
        <p:nvPr/>
      </p:nvGrpSpPr>
      <p:grpSpPr>
        <a:xfrm>
          <a:off x="0" y="0"/>
          <a:ext cx="0" cy="0"/>
          <a:chOff x="0" y="0"/>
          <a:chExt cx="0" cy="0"/>
        </a:xfrm>
      </p:grpSpPr>
      <p:grpSp>
        <p:nvGrpSpPr>
          <p:cNvPr id="249" name="Google Shape;249;p29"/>
          <p:cNvGrpSpPr/>
          <p:nvPr/>
        </p:nvGrpSpPr>
        <p:grpSpPr>
          <a:xfrm>
            <a:off x="0" y="9305925"/>
            <a:ext cx="19280880" cy="1312977"/>
            <a:chOff x="0" y="0"/>
            <a:chExt cx="25707841" cy="1750636"/>
          </a:xfrm>
        </p:grpSpPr>
        <p:sp>
          <p:nvSpPr>
            <p:cNvPr id="250" name="Google Shape;250;p29"/>
            <p:cNvSpPr/>
            <p:nvPr/>
          </p:nvSpPr>
          <p:spPr>
            <a:xfrm rot="5400000">
              <a:off x="13125860" y="-10831345"/>
              <a:ext cx="1750636" cy="23413325"/>
            </a:xfrm>
            <a:custGeom>
              <a:avLst/>
              <a:gdLst/>
              <a:ahLst/>
              <a:cxnLst/>
              <a:rect l="l" t="t" r="r" b="b"/>
              <a:pathLst>
                <a:path w="3130550" h="41868551" extrusionOk="0">
                  <a:moveTo>
                    <a:pt x="0" y="1123950"/>
                  </a:moveTo>
                  <a:lnTo>
                    <a:pt x="0" y="41868551"/>
                  </a:lnTo>
                  <a:lnTo>
                    <a:pt x="3130550" y="41868551"/>
                  </a:lnTo>
                  <a:lnTo>
                    <a:pt x="3130550" y="0"/>
                  </a:lnTo>
                  <a:close/>
                </a:path>
              </a:pathLst>
            </a:custGeom>
            <a:solidFill>
              <a:srgbClr val="1836B2"/>
            </a:solidFill>
            <a:ln>
              <a:noFill/>
            </a:ln>
          </p:spPr>
          <p:txBody>
            <a:bodyPr/>
            <a:lstStyle/>
            <a:p>
              <a:endParaRPr lang="en-US"/>
            </a:p>
          </p:txBody>
        </p:sp>
        <p:sp>
          <p:nvSpPr>
            <p:cNvPr id="251" name="Google Shape;251;p29"/>
            <p:cNvSpPr/>
            <p:nvPr/>
          </p:nvSpPr>
          <p:spPr>
            <a:xfrm>
              <a:off x="0" y="0"/>
              <a:ext cx="3066088" cy="1750636"/>
            </a:xfrm>
            <a:custGeom>
              <a:avLst/>
              <a:gdLst/>
              <a:ahLst/>
              <a:cxnLst/>
              <a:rect l="l" t="t" r="r" b="b"/>
              <a:pathLst>
                <a:path w="3066088" h="1750636" extrusionOk="0">
                  <a:moveTo>
                    <a:pt x="0" y="0"/>
                  </a:moveTo>
                  <a:lnTo>
                    <a:pt x="3066088" y="0"/>
                  </a:lnTo>
                  <a:lnTo>
                    <a:pt x="3066088" y="1750636"/>
                  </a:lnTo>
                  <a:lnTo>
                    <a:pt x="0" y="1750636"/>
                  </a:lnTo>
                  <a:lnTo>
                    <a:pt x="0" y="0"/>
                  </a:lnTo>
                  <a:close/>
                </a:path>
              </a:pathLst>
            </a:custGeom>
            <a:blipFill rotWithShape="1">
              <a:blip r:embed="rId3">
                <a:alphaModFix/>
              </a:blip>
              <a:stretch>
                <a:fillRect t="-51572"/>
              </a:stretch>
            </a:blipFill>
            <a:ln>
              <a:noFill/>
            </a:ln>
          </p:spPr>
          <p:txBody>
            <a:bodyPr/>
            <a:lstStyle/>
            <a:p>
              <a:endParaRPr lang="en-US"/>
            </a:p>
          </p:txBody>
        </p:sp>
      </p:grpSp>
      <p:grpSp>
        <p:nvGrpSpPr>
          <p:cNvPr id="252" name="Google Shape;252;p29"/>
          <p:cNvGrpSpPr/>
          <p:nvPr/>
        </p:nvGrpSpPr>
        <p:grpSpPr>
          <a:xfrm>
            <a:off x="1028700" y="1072062"/>
            <a:ext cx="16954500" cy="2074069"/>
            <a:chOff x="0" y="180975"/>
            <a:chExt cx="22606000" cy="2765425"/>
          </a:xfrm>
        </p:grpSpPr>
        <p:sp>
          <p:nvSpPr>
            <p:cNvPr id="253" name="Google Shape;253;p29"/>
            <p:cNvSpPr txBox="1"/>
            <p:nvPr/>
          </p:nvSpPr>
          <p:spPr>
            <a:xfrm>
              <a:off x="0" y="180975"/>
              <a:ext cx="22606000" cy="176974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600" b="0" i="0" u="none" strike="noStrike" cap="none">
                  <a:solidFill>
                    <a:srgbClr val="FFFFFF"/>
                  </a:solidFill>
                  <a:latin typeface="Play"/>
                  <a:ea typeface="Play"/>
                  <a:cs typeface="Play"/>
                  <a:sym typeface="Play"/>
                </a:rPr>
                <a:t>Hợp đồng Nhóm</a:t>
              </a:r>
              <a:endParaRPr/>
            </a:p>
          </p:txBody>
        </p:sp>
        <p:sp>
          <p:nvSpPr>
            <p:cNvPr id="254" name="Google Shape;254;p29"/>
            <p:cNvSpPr txBox="1"/>
            <p:nvPr/>
          </p:nvSpPr>
          <p:spPr>
            <a:xfrm>
              <a:off x="0" y="2387600"/>
              <a:ext cx="226060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FFFFFF"/>
                  </a:solidFill>
                  <a:latin typeface="Arial"/>
                  <a:ea typeface="Arial"/>
                  <a:cs typeface="Arial"/>
                  <a:sym typeface="Arial"/>
                </a:rPr>
                <a:t>Cam kết và quy định làm việc</a:t>
              </a:r>
              <a:endParaRPr/>
            </a:p>
          </p:txBody>
        </p:sp>
      </p:grpSp>
      <p:grpSp>
        <p:nvGrpSpPr>
          <p:cNvPr id="255" name="Google Shape;255;p29"/>
          <p:cNvGrpSpPr/>
          <p:nvPr/>
        </p:nvGrpSpPr>
        <p:grpSpPr>
          <a:xfrm>
            <a:off x="1028700" y="4505576"/>
            <a:ext cx="4010025" cy="2743200"/>
            <a:chOff x="0" y="0"/>
            <a:chExt cx="5346700" cy="3657600"/>
          </a:xfrm>
        </p:grpSpPr>
        <p:sp>
          <p:nvSpPr>
            <p:cNvPr id="256" name="Google Shape;256;p29"/>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FFFFFF"/>
                  </a:solidFill>
                  <a:latin typeface="Arial"/>
                  <a:ea typeface="Arial"/>
                  <a:cs typeface="Arial"/>
                  <a:sym typeface="Arial"/>
                </a:rPr>
                <a:t>Vai trò</a:t>
              </a:r>
              <a:endParaRPr/>
            </a:p>
          </p:txBody>
        </p:sp>
        <p:sp>
          <p:nvSpPr>
            <p:cNvPr id="257" name="Google Shape;257;p29"/>
            <p:cNvSpPr txBox="1"/>
            <p:nvPr/>
          </p:nvSpPr>
          <p:spPr>
            <a:xfrm>
              <a:off x="0" y="1244600"/>
              <a:ext cx="5346700" cy="24130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FFFFFF"/>
                  </a:solidFill>
                  <a:latin typeface="Arial"/>
                  <a:ea typeface="Arial"/>
                  <a:cs typeface="Arial"/>
                  <a:sym typeface="Arial"/>
                </a:rPr>
                <a:t>Mỗi thành viên trong nhóm sẽ có vai trò rõ ràng, bao gồm lãnh đạo, lập trình viên và thiết kế, đảm bảo phân chia công việc hiệu quả.</a:t>
              </a:r>
              <a:endParaRPr/>
            </a:p>
          </p:txBody>
        </p:sp>
      </p:grpSp>
      <p:grpSp>
        <p:nvGrpSpPr>
          <p:cNvPr id="258" name="Google Shape;258;p29"/>
          <p:cNvGrpSpPr/>
          <p:nvPr/>
        </p:nvGrpSpPr>
        <p:grpSpPr>
          <a:xfrm>
            <a:off x="7081599" y="4505576"/>
            <a:ext cx="4010025" cy="2771775"/>
            <a:chOff x="0" y="0"/>
            <a:chExt cx="5346700" cy="3695700"/>
          </a:xfrm>
        </p:grpSpPr>
        <p:sp>
          <p:nvSpPr>
            <p:cNvPr id="259" name="Google Shape;259;p29"/>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FFFFFF"/>
                  </a:solidFill>
                  <a:latin typeface="Arial"/>
                  <a:ea typeface="Arial"/>
                  <a:cs typeface="Arial"/>
                  <a:sym typeface="Arial"/>
                </a:rPr>
                <a:t>Cam kết</a:t>
              </a:r>
              <a:endParaRPr/>
            </a:p>
          </p:txBody>
        </p:sp>
        <p:sp>
          <p:nvSpPr>
            <p:cNvPr id="260" name="Google Shape;260;p29"/>
            <p:cNvSpPr txBox="1"/>
            <p:nvPr/>
          </p:nvSpPr>
          <p:spPr>
            <a:xfrm>
              <a:off x="0" y="1282700"/>
              <a:ext cx="5346700" cy="24130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FFFFFF"/>
                  </a:solidFill>
                  <a:latin typeface="Arial"/>
                  <a:ea typeface="Arial"/>
                  <a:cs typeface="Arial"/>
                  <a:sym typeface="Arial"/>
                </a:rPr>
                <a:t>Nhóm cam kết về tiến độ hoàn thành công việc, chất lượng sản phẩm và giao tiếp thường xuyên để đảm bảo sự hợp tác và hiệu quả trong dự án.</a:t>
              </a:r>
              <a:endParaRPr/>
            </a:p>
          </p:txBody>
        </p:sp>
      </p:grpSp>
      <p:grpSp>
        <p:nvGrpSpPr>
          <p:cNvPr id="261" name="Google Shape;261;p29"/>
          <p:cNvGrpSpPr/>
          <p:nvPr/>
        </p:nvGrpSpPr>
        <p:grpSpPr>
          <a:xfrm>
            <a:off x="13134497" y="4505576"/>
            <a:ext cx="4010025" cy="3105150"/>
            <a:chOff x="0" y="0"/>
            <a:chExt cx="5346700" cy="4140200"/>
          </a:xfrm>
        </p:grpSpPr>
        <p:sp>
          <p:nvSpPr>
            <p:cNvPr id="262" name="Google Shape;262;p29"/>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FFFFFF"/>
                  </a:solidFill>
                  <a:latin typeface="Arial"/>
                  <a:ea typeface="Arial"/>
                  <a:cs typeface="Arial"/>
                  <a:sym typeface="Arial"/>
                </a:rPr>
                <a:t>Giải quyết</a:t>
              </a:r>
              <a:endParaRPr/>
            </a:p>
          </p:txBody>
        </p:sp>
        <p:sp>
          <p:nvSpPr>
            <p:cNvPr id="263" name="Google Shape;263;p29"/>
            <p:cNvSpPr txBox="1"/>
            <p:nvPr/>
          </p:nvSpPr>
          <p:spPr>
            <a:xfrm>
              <a:off x="0" y="1244600"/>
              <a:ext cx="5346700" cy="28956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FFFFFF"/>
                  </a:solidFill>
                  <a:latin typeface="Arial"/>
                  <a:ea typeface="Arial"/>
                  <a:cs typeface="Arial"/>
                  <a:sym typeface="Arial"/>
                </a:rPr>
                <a:t>Quy tắc giải quyết mâu thuẫn giữa các thành viên sẽ được áp dụng, bao gồm thảo luận trực tiếp và tìm kiếm giải pháp hợp lý cho mọi vấn đề phát sinh.</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267"/>
        <p:cNvGrpSpPr/>
        <p:nvPr/>
      </p:nvGrpSpPr>
      <p:grpSpPr>
        <a:xfrm>
          <a:off x="0" y="0"/>
          <a:ext cx="0" cy="0"/>
          <a:chOff x="0" y="0"/>
          <a:chExt cx="0" cy="0"/>
        </a:xfrm>
      </p:grpSpPr>
      <p:grpSp>
        <p:nvGrpSpPr>
          <p:cNvPr id="268" name="Google Shape;268;p30"/>
          <p:cNvGrpSpPr/>
          <p:nvPr/>
        </p:nvGrpSpPr>
        <p:grpSpPr>
          <a:xfrm>
            <a:off x="0" y="9305925"/>
            <a:ext cx="19280880" cy="1312977"/>
            <a:chOff x="0" y="0"/>
            <a:chExt cx="25707841" cy="1750636"/>
          </a:xfrm>
        </p:grpSpPr>
        <p:sp>
          <p:nvSpPr>
            <p:cNvPr id="269" name="Google Shape;269;p30"/>
            <p:cNvSpPr/>
            <p:nvPr/>
          </p:nvSpPr>
          <p:spPr>
            <a:xfrm rot="5400000">
              <a:off x="13125860" y="-10831345"/>
              <a:ext cx="1750636" cy="23413325"/>
            </a:xfrm>
            <a:custGeom>
              <a:avLst/>
              <a:gdLst/>
              <a:ahLst/>
              <a:cxnLst/>
              <a:rect l="l" t="t" r="r" b="b"/>
              <a:pathLst>
                <a:path w="3130550" h="41868551" extrusionOk="0">
                  <a:moveTo>
                    <a:pt x="0" y="1123950"/>
                  </a:moveTo>
                  <a:lnTo>
                    <a:pt x="0" y="41868551"/>
                  </a:lnTo>
                  <a:lnTo>
                    <a:pt x="3130550" y="41868551"/>
                  </a:lnTo>
                  <a:lnTo>
                    <a:pt x="3130550" y="0"/>
                  </a:lnTo>
                  <a:close/>
                </a:path>
              </a:pathLst>
            </a:custGeom>
            <a:solidFill>
              <a:srgbClr val="1836B2"/>
            </a:solidFill>
            <a:ln>
              <a:noFill/>
            </a:ln>
          </p:spPr>
          <p:txBody>
            <a:bodyPr/>
            <a:lstStyle/>
            <a:p>
              <a:endParaRPr lang="en-US"/>
            </a:p>
          </p:txBody>
        </p:sp>
        <p:sp>
          <p:nvSpPr>
            <p:cNvPr id="270" name="Google Shape;270;p30"/>
            <p:cNvSpPr/>
            <p:nvPr/>
          </p:nvSpPr>
          <p:spPr>
            <a:xfrm>
              <a:off x="0" y="0"/>
              <a:ext cx="3066088" cy="1750636"/>
            </a:xfrm>
            <a:custGeom>
              <a:avLst/>
              <a:gdLst/>
              <a:ahLst/>
              <a:cxnLst/>
              <a:rect l="l" t="t" r="r" b="b"/>
              <a:pathLst>
                <a:path w="3066088" h="1750636" extrusionOk="0">
                  <a:moveTo>
                    <a:pt x="0" y="0"/>
                  </a:moveTo>
                  <a:lnTo>
                    <a:pt x="3066088" y="0"/>
                  </a:lnTo>
                  <a:lnTo>
                    <a:pt x="3066088" y="1750636"/>
                  </a:lnTo>
                  <a:lnTo>
                    <a:pt x="0" y="1750636"/>
                  </a:lnTo>
                  <a:lnTo>
                    <a:pt x="0" y="0"/>
                  </a:lnTo>
                  <a:close/>
                </a:path>
              </a:pathLst>
            </a:custGeom>
            <a:blipFill rotWithShape="1">
              <a:blip r:embed="rId3">
                <a:alphaModFix/>
              </a:blip>
              <a:stretch>
                <a:fillRect t="-51572"/>
              </a:stretch>
            </a:blipFill>
            <a:ln>
              <a:noFill/>
            </a:ln>
          </p:spPr>
          <p:txBody>
            <a:bodyPr/>
            <a:lstStyle/>
            <a:p>
              <a:endParaRPr lang="en-US"/>
            </a:p>
          </p:txBody>
        </p:sp>
      </p:grpSp>
      <p:sp>
        <p:nvSpPr>
          <p:cNvPr id="271" name="Google Shape;271;p30"/>
          <p:cNvSpPr/>
          <p:nvPr/>
        </p:nvSpPr>
        <p:spPr>
          <a:xfrm>
            <a:off x="6914715" y="2055382"/>
            <a:ext cx="4743919" cy="6152828"/>
          </a:xfrm>
          <a:custGeom>
            <a:avLst/>
            <a:gdLst/>
            <a:ahLst/>
            <a:cxnLst/>
            <a:rect l="l" t="t" r="r" b="b"/>
            <a:pathLst>
              <a:path w="4743919" h="6152828" extrusionOk="0">
                <a:moveTo>
                  <a:pt x="0" y="0"/>
                </a:moveTo>
                <a:lnTo>
                  <a:pt x="4743920" y="0"/>
                </a:lnTo>
                <a:lnTo>
                  <a:pt x="4743920" y="6152828"/>
                </a:lnTo>
                <a:lnTo>
                  <a:pt x="0" y="6152828"/>
                </a:lnTo>
                <a:lnTo>
                  <a:pt x="0" y="0"/>
                </a:lnTo>
                <a:close/>
              </a:path>
            </a:pathLst>
          </a:custGeom>
          <a:blipFill rotWithShape="1">
            <a:blip r:embed="rId4">
              <a:alphaModFix/>
            </a:blip>
            <a:stretch>
              <a:fillRect/>
            </a:stretch>
          </a:blipFill>
          <a:ln>
            <a:noFill/>
          </a:ln>
        </p:spPr>
        <p:txBody>
          <a:bodyPr/>
          <a:lstStyle/>
          <a:p>
            <a:endParaRPr lang="en-US"/>
          </a:p>
        </p:txBody>
      </p:sp>
      <p:sp>
        <p:nvSpPr>
          <p:cNvPr id="272" name="Google Shape;272;p30"/>
          <p:cNvSpPr/>
          <p:nvPr/>
        </p:nvSpPr>
        <p:spPr>
          <a:xfrm>
            <a:off x="11874150" y="2067086"/>
            <a:ext cx="5773015" cy="6141124"/>
          </a:xfrm>
          <a:custGeom>
            <a:avLst/>
            <a:gdLst/>
            <a:ahLst/>
            <a:cxnLst/>
            <a:rect l="l" t="t" r="r" b="b"/>
            <a:pathLst>
              <a:path w="5773015" h="6141124" extrusionOk="0">
                <a:moveTo>
                  <a:pt x="0" y="0"/>
                </a:moveTo>
                <a:lnTo>
                  <a:pt x="5773015" y="0"/>
                </a:lnTo>
                <a:lnTo>
                  <a:pt x="5773015" y="6141124"/>
                </a:lnTo>
                <a:lnTo>
                  <a:pt x="0" y="6141124"/>
                </a:lnTo>
                <a:lnTo>
                  <a:pt x="0" y="0"/>
                </a:lnTo>
                <a:close/>
              </a:path>
            </a:pathLst>
          </a:custGeom>
          <a:blipFill rotWithShape="1">
            <a:blip r:embed="rId5">
              <a:alphaModFix/>
            </a:blip>
            <a:stretch>
              <a:fillRect/>
            </a:stretch>
          </a:blipFill>
          <a:ln>
            <a:noFill/>
          </a:ln>
        </p:spPr>
        <p:txBody>
          <a:bodyPr/>
          <a:lstStyle/>
          <a:p>
            <a:endParaRPr lang="en-US"/>
          </a:p>
        </p:txBody>
      </p:sp>
      <p:sp>
        <p:nvSpPr>
          <p:cNvPr id="273" name="Google Shape;273;p30"/>
          <p:cNvSpPr/>
          <p:nvPr/>
        </p:nvSpPr>
        <p:spPr>
          <a:xfrm>
            <a:off x="1733353" y="2067086"/>
            <a:ext cx="4965847" cy="6256185"/>
          </a:xfrm>
          <a:custGeom>
            <a:avLst/>
            <a:gdLst/>
            <a:ahLst/>
            <a:cxnLst/>
            <a:rect l="l" t="t" r="r" b="b"/>
            <a:pathLst>
              <a:path w="4965847" h="6256185" extrusionOk="0">
                <a:moveTo>
                  <a:pt x="0" y="0"/>
                </a:moveTo>
                <a:lnTo>
                  <a:pt x="4965847" y="0"/>
                </a:lnTo>
                <a:lnTo>
                  <a:pt x="4965847" y="6256185"/>
                </a:lnTo>
                <a:lnTo>
                  <a:pt x="0" y="6256185"/>
                </a:lnTo>
                <a:lnTo>
                  <a:pt x="0" y="0"/>
                </a:lnTo>
                <a:close/>
              </a:path>
            </a:pathLst>
          </a:custGeom>
          <a:blipFill rotWithShape="1">
            <a:blip r:embed="rId6">
              <a:alphaModFix/>
            </a:blip>
            <a:stretch>
              <a:fillRect/>
            </a:stretch>
          </a:blipFill>
          <a:ln>
            <a:noFill/>
          </a:ln>
        </p:spPr>
        <p:txBody>
          <a:bodyPr/>
          <a:lstStyle/>
          <a:p>
            <a:endParaRPr lang="en-US"/>
          </a:p>
        </p:txBody>
      </p:sp>
      <p:grpSp>
        <p:nvGrpSpPr>
          <p:cNvPr id="274" name="Google Shape;274;p30"/>
          <p:cNvGrpSpPr/>
          <p:nvPr/>
        </p:nvGrpSpPr>
        <p:grpSpPr>
          <a:xfrm>
            <a:off x="1028700" y="519573"/>
            <a:ext cx="12729550" cy="1559120"/>
            <a:chOff x="0" y="133350"/>
            <a:chExt cx="16972733" cy="2078827"/>
          </a:xfrm>
        </p:grpSpPr>
        <p:sp>
          <p:nvSpPr>
            <p:cNvPr id="275" name="Google Shape;275;p30"/>
            <p:cNvSpPr txBox="1"/>
            <p:nvPr/>
          </p:nvSpPr>
          <p:spPr>
            <a:xfrm>
              <a:off x="0" y="133350"/>
              <a:ext cx="16972733" cy="13312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207" b="0" i="0" u="none" strike="noStrike" cap="none">
                  <a:solidFill>
                    <a:srgbClr val="FFFFFF"/>
                  </a:solidFill>
                  <a:latin typeface="Play"/>
                  <a:ea typeface="Play"/>
                  <a:cs typeface="Play"/>
                  <a:sym typeface="Play"/>
                </a:rPr>
                <a:t>Hợp đồng nhóm</a:t>
              </a:r>
              <a:endParaRPr/>
            </a:p>
          </p:txBody>
        </p:sp>
        <p:sp>
          <p:nvSpPr>
            <p:cNvPr id="276" name="Google Shape;276;p30"/>
            <p:cNvSpPr txBox="1"/>
            <p:nvPr/>
          </p:nvSpPr>
          <p:spPr>
            <a:xfrm>
              <a:off x="0" y="1783101"/>
              <a:ext cx="16972733" cy="429076"/>
            </a:xfrm>
            <a:prstGeom prst="rect">
              <a:avLst/>
            </a:prstGeom>
            <a:noFill/>
            <a:ln>
              <a:noFill/>
            </a:ln>
          </p:spPr>
          <p:txBody>
            <a:bodyPr spcFirstLastPara="1" wrap="square" lIns="0" tIns="0" rIns="0" bIns="0" anchor="t" anchorCtr="0">
              <a:spAutoFit/>
            </a:bodyPr>
            <a:lstStyle/>
            <a:p>
              <a:pPr marL="0" marR="0" lvl="0" indent="0" algn="l" rtl="0">
                <a:lnSpc>
                  <a:spcPct val="140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280"/>
        <p:cNvGrpSpPr/>
        <p:nvPr/>
      </p:nvGrpSpPr>
      <p:grpSpPr>
        <a:xfrm>
          <a:off x="0" y="0"/>
          <a:ext cx="0" cy="0"/>
          <a:chOff x="0" y="0"/>
          <a:chExt cx="0" cy="0"/>
        </a:xfrm>
      </p:grpSpPr>
      <p:grpSp>
        <p:nvGrpSpPr>
          <p:cNvPr id="281" name="Google Shape;281;p31"/>
          <p:cNvGrpSpPr/>
          <p:nvPr/>
        </p:nvGrpSpPr>
        <p:grpSpPr>
          <a:xfrm>
            <a:off x="0" y="9305925"/>
            <a:ext cx="19280880" cy="1312977"/>
            <a:chOff x="0" y="0"/>
            <a:chExt cx="25707841" cy="1750636"/>
          </a:xfrm>
        </p:grpSpPr>
        <p:sp>
          <p:nvSpPr>
            <p:cNvPr id="282" name="Google Shape;282;p31"/>
            <p:cNvSpPr/>
            <p:nvPr/>
          </p:nvSpPr>
          <p:spPr>
            <a:xfrm rot="5400000">
              <a:off x="13125860" y="-10831345"/>
              <a:ext cx="1750636" cy="23413325"/>
            </a:xfrm>
            <a:custGeom>
              <a:avLst/>
              <a:gdLst/>
              <a:ahLst/>
              <a:cxnLst/>
              <a:rect l="l" t="t" r="r" b="b"/>
              <a:pathLst>
                <a:path w="3130550" h="41868551" extrusionOk="0">
                  <a:moveTo>
                    <a:pt x="0" y="1123950"/>
                  </a:moveTo>
                  <a:lnTo>
                    <a:pt x="0" y="41868551"/>
                  </a:lnTo>
                  <a:lnTo>
                    <a:pt x="3130550" y="41868551"/>
                  </a:lnTo>
                  <a:lnTo>
                    <a:pt x="3130550" y="0"/>
                  </a:lnTo>
                  <a:close/>
                </a:path>
              </a:pathLst>
            </a:custGeom>
            <a:solidFill>
              <a:srgbClr val="1836B2"/>
            </a:solidFill>
            <a:ln>
              <a:noFill/>
            </a:ln>
          </p:spPr>
          <p:txBody>
            <a:bodyPr/>
            <a:lstStyle/>
            <a:p>
              <a:endParaRPr lang="en-US"/>
            </a:p>
          </p:txBody>
        </p:sp>
        <p:sp>
          <p:nvSpPr>
            <p:cNvPr id="283" name="Google Shape;283;p31"/>
            <p:cNvSpPr/>
            <p:nvPr/>
          </p:nvSpPr>
          <p:spPr>
            <a:xfrm>
              <a:off x="0" y="0"/>
              <a:ext cx="3066088" cy="1750636"/>
            </a:xfrm>
            <a:custGeom>
              <a:avLst/>
              <a:gdLst/>
              <a:ahLst/>
              <a:cxnLst/>
              <a:rect l="l" t="t" r="r" b="b"/>
              <a:pathLst>
                <a:path w="3066088" h="1750636" extrusionOk="0">
                  <a:moveTo>
                    <a:pt x="0" y="0"/>
                  </a:moveTo>
                  <a:lnTo>
                    <a:pt x="3066088" y="0"/>
                  </a:lnTo>
                  <a:lnTo>
                    <a:pt x="3066088" y="1750636"/>
                  </a:lnTo>
                  <a:lnTo>
                    <a:pt x="0" y="1750636"/>
                  </a:lnTo>
                  <a:lnTo>
                    <a:pt x="0" y="0"/>
                  </a:lnTo>
                  <a:close/>
                </a:path>
              </a:pathLst>
            </a:custGeom>
            <a:blipFill rotWithShape="1">
              <a:blip r:embed="rId3">
                <a:alphaModFix/>
              </a:blip>
              <a:stretch>
                <a:fillRect t="-51572"/>
              </a:stretch>
            </a:blipFill>
            <a:ln>
              <a:noFill/>
            </a:ln>
          </p:spPr>
          <p:txBody>
            <a:bodyPr/>
            <a:lstStyle/>
            <a:p>
              <a:endParaRPr lang="en-US"/>
            </a:p>
          </p:txBody>
        </p:sp>
      </p:grpSp>
      <p:sp>
        <p:nvSpPr>
          <p:cNvPr id="284" name="Google Shape;284;p31"/>
          <p:cNvSpPr/>
          <p:nvPr/>
        </p:nvSpPr>
        <p:spPr>
          <a:xfrm>
            <a:off x="1028700" y="1965021"/>
            <a:ext cx="4712095" cy="6356958"/>
          </a:xfrm>
          <a:custGeom>
            <a:avLst/>
            <a:gdLst/>
            <a:ahLst/>
            <a:cxnLst/>
            <a:rect l="l" t="t" r="r" b="b"/>
            <a:pathLst>
              <a:path w="4712095" h="6356958" extrusionOk="0">
                <a:moveTo>
                  <a:pt x="0" y="0"/>
                </a:moveTo>
                <a:lnTo>
                  <a:pt x="4712095" y="0"/>
                </a:lnTo>
                <a:lnTo>
                  <a:pt x="4712095" y="6356958"/>
                </a:lnTo>
                <a:lnTo>
                  <a:pt x="0" y="6356958"/>
                </a:lnTo>
                <a:lnTo>
                  <a:pt x="0" y="0"/>
                </a:lnTo>
                <a:close/>
              </a:path>
            </a:pathLst>
          </a:custGeom>
          <a:blipFill rotWithShape="1">
            <a:blip r:embed="rId4">
              <a:alphaModFix/>
            </a:blip>
            <a:stretch>
              <a:fillRect/>
            </a:stretch>
          </a:blipFill>
          <a:ln>
            <a:noFill/>
          </a:ln>
        </p:spPr>
        <p:txBody>
          <a:bodyPr/>
          <a:lstStyle/>
          <a:p>
            <a:endParaRPr lang="en-US"/>
          </a:p>
        </p:txBody>
      </p:sp>
      <p:sp>
        <p:nvSpPr>
          <p:cNvPr id="285" name="Google Shape;285;p31"/>
          <p:cNvSpPr/>
          <p:nvPr/>
        </p:nvSpPr>
        <p:spPr>
          <a:xfrm>
            <a:off x="6213540" y="1965021"/>
            <a:ext cx="4584956" cy="6356958"/>
          </a:xfrm>
          <a:custGeom>
            <a:avLst/>
            <a:gdLst/>
            <a:ahLst/>
            <a:cxnLst/>
            <a:rect l="l" t="t" r="r" b="b"/>
            <a:pathLst>
              <a:path w="4584956" h="6356958" extrusionOk="0">
                <a:moveTo>
                  <a:pt x="0" y="0"/>
                </a:moveTo>
                <a:lnTo>
                  <a:pt x="4584956" y="0"/>
                </a:lnTo>
                <a:lnTo>
                  <a:pt x="4584956" y="6356958"/>
                </a:lnTo>
                <a:lnTo>
                  <a:pt x="0" y="6356958"/>
                </a:lnTo>
                <a:lnTo>
                  <a:pt x="0" y="0"/>
                </a:lnTo>
                <a:close/>
              </a:path>
            </a:pathLst>
          </a:custGeom>
          <a:blipFill rotWithShape="1">
            <a:blip r:embed="rId5">
              <a:alphaModFix/>
            </a:blip>
            <a:stretch>
              <a:fillRect/>
            </a:stretch>
          </a:blipFill>
          <a:ln>
            <a:noFill/>
          </a:ln>
        </p:spPr>
        <p:txBody>
          <a:bodyPr/>
          <a:lstStyle/>
          <a:p>
            <a:endParaRPr lang="en-US"/>
          </a:p>
        </p:txBody>
      </p:sp>
      <p:sp>
        <p:nvSpPr>
          <p:cNvPr id="286" name="Google Shape;286;p31"/>
          <p:cNvSpPr/>
          <p:nvPr/>
        </p:nvSpPr>
        <p:spPr>
          <a:xfrm>
            <a:off x="11271240" y="1965021"/>
            <a:ext cx="5988060" cy="6148933"/>
          </a:xfrm>
          <a:custGeom>
            <a:avLst/>
            <a:gdLst/>
            <a:ahLst/>
            <a:cxnLst/>
            <a:rect l="l" t="t" r="r" b="b"/>
            <a:pathLst>
              <a:path w="5988060" h="6148933" extrusionOk="0">
                <a:moveTo>
                  <a:pt x="0" y="0"/>
                </a:moveTo>
                <a:lnTo>
                  <a:pt x="5988060" y="0"/>
                </a:lnTo>
                <a:lnTo>
                  <a:pt x="5988060" y="6148933"/>
                </a:lnTo>
                <a:lnTo>
                  <a:pt x="0" y="6148933"/>
                </a:lnTo>
                <a:lnTo>
                  <a:pt x="0" y="0"/>
                </a:lnTo>
                <a:close/>
              </a:path>
            </a:pathLst>
          </a:custGeom>
          <a:blipFill rotWithShape="1">
            <a:blip r:embed="rId6">
              <a:alphaModFix/>
            </a:blip>
            <a:stretch>
              <a:fillRect/>
            </a:stretch>
          </a:blipFill>
          <a:ln>
            <a:noFill/>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290"/>
        <p:cNvGrpSpPr/>
        <p:nvPr/>
      </p:nvGrpSpPr>
      <p:grpSpPr>
        <a:xfrm>
          <a:off x="0" y="0"/>
          <a:ext cx="0" cy="0"/>
          <a:chOff x="0" y="0"/>
          <a:chExt cx="0" cy="0"/>
        </a:xfrm>
      </p:grpSpPr>
      <p:sp>
        <p:nvSpPr>
          <p:cNvPr id="291" name="Google Shape;291;p32"/>
          <p:cNvSpPr txBox="1"/>
          <p:nvPr/>
        </p:nvSpPr>
        <p:spPr>
          <a:xfrm>
            <a:off x="1028700" y="933450"/>
            <a:ext cx="4568428" cy="887096"/>
          </a:xfrm>
          <a:prstGeom prst="rect">
            <a:avLst/>
          </a:prstGeom>
          <a:noFill/>
          <a:ln>
            <a:noFill/>
          </a:ln>
        </p:spPr>
        <p:txBody>
          <a:bodyPr spcFirstLastPara="1" wrap="square" lIns="0" tIns="0" rIns="0" bIns="0" anchor="t" anchorCtr="0">
            <a:spAutoFit/>
          </a:bodyPr>
          <a:lstStyle/>
          <a:p>
            <a:pPr marL="0" marR="0" lvl="0" indent="0" algn="ctr" rtl="0">
              <a:lnSpc>
                <a:spcPct val="140007"/>
              </a:lnSpc>
              <a:spcBef>
                <a:spcPts val="0"/>
              </a:spcBef>
              <a:spcAft>
                <a:spcPts val="0"/>
              </a:spcAft>
              <a:buNone/>
            </a:pPr>
            <a:r>
              <a:rPr lang="en-US" sz="5199" b="0" i="0" u="none" strike="noStrike" cap="none">
                <a:solidFill>
                  <a:srgbClr val="FFFFFF"/>
                </a:solidFill>
                <a:latin typeface="Noto Sans"/>
                <a:ea typeface="Noto Sans"/>
                <a:cs typeface="Noto Sans"/>
                <a:sym typeface="Noto Sans"/>
              </a:rPr>
              <a:t>Mục tiêu chính</a:t>
            </a:r>
            <a:endParaRPr/>
          </a:p>
        </p:txBody>
      </p:sp>
      <p:sp>
        <p:nvSpPr>
          <p:cNvPr id="292" name="Google Shape;292;p32"/>
          <p:cNvSpPr txBox="1"/>
          <p:nvPr/>
        </p:nvSpPr>
        <p:spPr>
          <a:xfrm>
            <a:off x="700700" y="1931975"/>
            <a:ext cx="5128500" cy="4617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00" b="0" i="0" u="none" strike="noStrike" cap="none">
                <a:solidFill>
                  <a:srgbClr val="FFFFFF"/>
                </a:solidFill>
                <a:latin typeface="Noto Sans"/>
                <a:ea typeface="Noto Sans"/>
                <a:cs typeface="Noto Sans"/>
                <a:sym typeface="Noto Sans"/>
              </a:rPr>
              <a:t>Nội dung thảo luận dự án</a:t>
            </a:r>
            <a:endParaRPr/>
          </a:p>
        </p:txBody>
      </p:sp>
      <p:grpSp>
        <p:nvGrpSpPr>
          <p:cNvPr id="293" name="Google Shape;293;p32"/>
          <p:cNvGrpSpPr/>
          <p:nvPr/>
        </p:nvGrpSpPr>
        <p:grpSpPr>
          <a:xfrm>
            <a:off x="1028700" y="5009244"/>
            <a:ext cx="4010025" cy="3105150"/>
            <a:chOff x="0" y="0"/>
            <a:chExt cx="5346700" cy="4140200"/>
          </a:xfrm>
        </p:grpSpPr>
        <p:sp>
          <p:nvSpPr>
            <p:cNvPr id="294" name="Google Shape;294;p32"/>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FFFFFF"/>
                  </a:solidFill>
                  <a:latin typeface="Arial"/>
                  <a:ea typeface="Arial"/>
                  <a:cs typeface="Arial"/>
                  <a:sym typeface="Arial"/>
                </a:rPr>
                <a:t>Xây dựng ứng dụng</a:t>
              </a:r>
              <a:endParaRPr/>
            </a:p>
          </p:txBody>
        </p:sp>
        <p:sp>
          <p:nvSpPr>
            <p:cNvPr id="295" name="Google Shape;295;p32"/>
            <p:cNvSpPr txBox="1"/>
            <p:nvPr/>
          </p:nvSpPr>
          <p:spPr>
            <a:xfrm>
              <a:off x="0" y="1244600"/>
              <a:ext cx="5346700" cy="28956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FFFFFF"/>
                  </a:solidFill>
                  <a:latin typeface="Arial"/>
                  <a:ea typeface="Arial"/>
                  <a:cs typeface="Arial"/>
                  <a:sym typeface="Arial"/>
                </a:rPr>
                <a:t>Xây dựng ứng dụng quản lý và điểm danh sinh viên sẽ giúp quản lý hoạt động hiệu quả, tăng cường sự tham gia của sinh viên trong các hoạt động tại Khoa CNTT.</a:t>
              </a:r>
              <a:endParaRPr/>
            </a:p>
          </p:txBody>
        </p:sp>
      </p:grpSp>
      <p:grpSp>
        <p:nvGrpSpPr>
          <p:cNvPr id="296" name="Google Shape;296;p32"/>
          <p:cNvGrpSpPr/>
          <p:nvPr/>
        </p:nvGrpSpPr>
        <p:grpSpPr>
          <a:xfrm>
            <a:off x="6831942" y="5009244"/>
            <a:ext cx="4010025" cy="3133725"/>
            <a:chOff x="0" y="0"/>
            <a:chExt cx="5346700" cy="4178300"/>
          </a:xfrm>
        </p:grpSpPr>
        <p:sp>
          <p:nvSpPr>
            <p:cNvPr id="297" name="Google Shape;297;p32"/>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FFFFFF"/>
                  </a:solidFill>
                  <a:latin typeface="Arial"/>
                  <a:ea typeface="Arial"/>
                  <a:cs typeface="Arial"/>
                  <a:sym typeface="Arial"/>
                </a:rPr>
                <a:t>Công nghệ sử dụng</a:t>
              </a:r>
              <a:endParaRPr/>
            </a:p>
          </p:txBody>
        </p:sp>
        <p:sp>
          <p:nvSpPr>
            <p:cNvPr id="298" name="Google Shape;298;p32"/>
            <p:cNvSpPr txBox="1"/>
            <p:nvPr/>
          </p:nvSpPr>
          <p:spPr>
            <a:xfrm>
              <a:off x="0" y="1282700"/>
              <a:ext cx="5346700" cy="28956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FFFFFF"/>
                  </a:solidFill>
                  <a:latin typeface="Arial"/>
                  <a:ea typeface="Arial"/>
                  <a:cs typeface="Arial"/>
                  <a:sym typeface="Arial"/>
                </a:rPr>
                <a:t>Ứng dụng sẽ sử dụng công nghệ tiên tiến như Flutter và ASP.NET Core, kết hợp với SQL Server để đảm bảo hiệu suất và bảo mật cho dữ liệu người dùng.</a:t>
              </a:r>
              <a:endParaRPr/>
            </a:p>
          </p:txBody>
        </p:sp>
      </p:grpSp>
      <p:grpSp>
        <p:nvGrpSpPr>
          <p:cNvPr id="299" name="Google Shape;299;p32"/>
          <p:cNvGrpSpPr/>
          <p:nvPr/>
        </p:nvGrpSpPr>
        <p:grpSpPr>
          <a:xfrm>
            <a:off x="12632667" y="5143500"/>
            <a:ext cx="4010025" cy="3105150"/>
            <a:chOff x="0" y="0"/>
            <a:chExt cx="5346700" cy="4140200"/>
          </a:xfrm>
        </p:grpSpPr>
        <p:sp>
          <p:nvSpPr>
            <p:cNvPr id="300" name="Google Shape;300;p32"/>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FFFFFF"/>
                  </a:solidFill>
                  <a:latin typeface="Arial"/>
                  <a:ea typeface="Arial"/>
                  <a:cs typeface="Arial"/>
                  <a:sym typeface="Arial"/>
                </a:rPr>
                <a:t>Tính năng nổi bật</a:t>
              </a:r>
              <a:endParaRPr/>
            </a:p>
          </p:txBody>
        </p:sp>
        <p:sp>
          <p:nvSpPr>
            <p:cNvPr id="301" name="Google Shape;301;p32"/>
            <p:cNvSpPr txBox="1"/>
            <p:nvPr/>
          </p:nvSpPr>
          <p:spPr>
            <a:xfrm>
              <a:off x="0" y="1244600"/>
              <a:ext cx="5346700" cy="28956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FFFFFF"/>
                  </a:solidFill>
                  <a:latin typeface="Arial"/>
                  <a:ea typeface="Arial"/>
                  <a:cs typeface="Arial"/>
                  <a:sym typeface="Arial"/>
                </a:rPr>
                <a:t>Ứng dụng sẽ bao gồm các tính năng như tạo tài khoản, điểm danh bằng QR, và thống kê báo cáo, giúp sinh viên dễ dàng tham gia và theo dõi hoạt động của mình.</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05"/>
        <p:cNvGrpSpPr/>
        <p:nvPr/>
      </p:nvGrpSpPr>
      <p:grpSpPr>
        <a:xfrm>
          <a:off x="0" y="0"/>
          <a:ext cx="0" cy="0"/>
          <a:chOff x="0" y="0"/>
          <a:chExt cx="0" cy="0"/>
        </a:xfrm>
      </p:grpSpPr>
      <p:sp>
        <p:nvSpPr>
          <p:cNvPr id="306" name="Google Shape;306;p33"/>
          <p:cNvSpPr txBox="1"/>
          <p:nvPr/>
        </p:nvSpPr>
        <p:spPr>
          <a:xfrm>
            <a:off x="178875" y="894525"/>
            <a:ext cx="8304300" cy="738600"/>
          </a:xfrm>
          <a:prstGeom prst="rect">
            <a:avLst/>
          </a:prstGeom>
          <a:noFill/>
          <a:ln>
            <a:noFill/>
          </a:ln>
        </p:spPr>
        <p:txBody>
          <a:bodyPr spcFirstLastPara="1" wrap="square" lIns="0" tIns="0" rIns="0" bIns="0" anchor="t" anchorCtr="0">
            <a:spAutoFit/>
          </a:bodyPr>
          <a:lstStyle/>
          <a:p>
            <a:pPr marL="0" marR="0" lvl="0" indent="0" algn="ctr" rtl="0">
              <a:lnSpc>
                <a:spcPct val="120004"/>
              </a:lnSpc>
              <a:spcBef>
                <a:spcPts val="0"/>
              </a:spcBef>
              <a:spcAft>
                <a:spcPts val="0"/>
              </a:spcAft>
              <a:buNone/>
            </a:pPr>
            <a:r>
              <a:rPr lang="en-US" sz="4799" b="1" i="0" u="none" strike="noStrike" cap="none">
                <a:solidFill>
                  <a:srgbClr val="FFFFFF"/>
                </a:solidFill>
                <a:latin typeface="Arial"/>
                <a:ea typeface="Arial"/>
                <a:cs typeface="Arial"/>
                <a:sym typeface="Arial"/>
              </a:rPr>
              <a:t>VMS Project_Function</a:t>
            </a:r>
            <a:endParaRPr/>
          </a:p>
        </p:txBody>
      </p:sp>
      <p:sp>
        <p:nvSpPr>
          <p:cNvPr id="307" name="Google Shape;307;p33"/>
          <p:cNvSpPr txBox="1"/>
          <p:nvPr/>
        </p:nvSpPr>
        <p:spPr>
          <a:xfrm>
            <a:off x="1028700" y="1982860"/>
            <a:ext cx="17106900" cy="7905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600" b="1" i="0" u="none" strike="noStrike" cap="none">
                <a:solidFill>
                  <a:srgbClr val="FFFFFF"/>
                </a:solidFill>
                <a:latin typeface="Arial"/>
                <a:ea typeface="Arial"/>
                <a:cs typeface="Arial"/>
                <a:sym typeface="Arial"/>
              </a:rPr>
              <a:t>Phương pháp Weighted Scoring Model (WSM) giúp đánh giá và so sánh các lựa chọn dựa trên nhiều tiêu chí khác nhau, tạo điều kiện ra quyết định hợp lý cho dự án.</a:t>
            </a:r>
            <a:endParaRPr/>
          </a:p>
        </p:txBody>
      </p:sp>
      <p:sp>
        <p:nvSpPr>
          <p:cNvPr id="308" name="Google Shape;308;p33"/>
          <p:cNvSpPr/>
          <p:nvPr/>
        </p:nvSpPr>
        <p:spPr>
          <a:xfrm>
            <a:off x="1028700" y="4277916"/>
            <a:ext cx="8477250" cy="4980384"/>
          </a:xfrm>
          <a:custGeom>
            <a:avLst/>
            <a:gdLst/>
            <a:ahLst/>
            <a:cxnLst/>
            <a:rect l="l" t="t" r="r" b="b"/>
            <a:pathLst>
              <a:path w="8477250" h="4980384" extrusionOk="0">
                <a:moveTo>
                  <a:pt x="0" y="0"/>
                </a:moveTo>
                <a:lnTo>
                  <a:pt x="8477250" y="0"/>
                </a:lnTo>
                <a:lnTo>
                  <a:pt x="8477250" y="4980384"/>
                </a:lnTo>
                <a:lnTo>
                  <a:pt x="0" y="4980384"/>
                </a:lnTo>
                <a:lnTo>
                  <a:pt x="0" y="0"/>
                </a:lnTo>
                <a:close/>
              </a:path>
            </a:pathLst>
          </a:custGeom>
          <a:blipFill rotWithShape="1">
            <a:blip r:embed="rId3">
              <a:alphaModFix/>
            </a:blip>
            <a:stretch>
              <a:fillRect/>
            </a:stretch>
          </a:blipFill>
          <a:ln w="38100" cap="sq" cmpd="sng">
            <a:solidFill>
              <a:srgbClr val="000000"/>
            </a:solidFill>
            <a:prstDash val="solid"/>
            <a:miter lim="8000"/>
            <a:headEnd type="none" w="sm" len="sm"/>
            <a:tailEnd type="none" w="sm" len="sm"/>
          </a:ln>
        </p:spPr>
        <p:txBody>
          <a:bodyPr/>
          <a:lstStyle/>
          <a:p>
            <a:endParaRPr lang="en-US"/>
          </a:p>
        </p:txBody>
      </p:sp>
      <p:sp>
        <p:nvSpPr>
          <p:cNvPr id="309" name="Google Shape;309;p33"/>
          <p:cNvSpPr/>
          <p:nvPr/>
        </p:nvSpPr>
        <p:spPr>
          <a:xfrm>
            <a:off x="9505950" y="4277916"/>
            <a:ext cx="7736519" cy="4980384"/>
          </a:xfrm>
          <a:custGeom>
            <a:avLst/>
            <a:gdLst/>
            <a:ahLst/>
            <a:cxnLst/>
            <a:rect l="l" t="t" r="r" b="b"/>
            <a:pathLst>
              <a:path w="7736519" h="4980384" extrusionOk="0">
                <a:moveTo>
                  <a:pt x="0" y="0"/>
                </a:moveTo>
                <a:lnTo>
                  <a:pt x="7736519" y="0"/>
                </a:lnTo>
                <a:lnTo>
                  <a:pt x="7736519" y="4980384"/>
                </a:lnTo>
                <a:lnTo>
                  <a:pt x="0" y="4980384"/>
                </a:lnTo>
                <a:lnTo>
                  <a:pt x="0" y="0"/>
                </a:lnTo>
                <a:close/>
              </a:path>
            </a:pathLst>
          </a:custGeom>
          <a:blipFill rotWithShape="1">
            <a:blip r:embed="rId4">
              <a:alphaModFix/>
            </a:blip>
            <a:stretch>
              <a:fillRect/>
            </a:stretch>
          </a:blipFill>
          <a:ln w="38100" cap="sq" cmpd="sng">
            <a:solidFill>
              <a:srgbClr val="000000"/>
            </a:solidFill>
            <a:prstDash val="solid"/>
            <a:miter lim="8000"/>
            <a:headEnd type="none" w="sm" len="sm"/>
            <a:tailEnd type="none" w="sm" len="sm"/>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13"/>
        <p:cNvGrpSpPr/>
        <p:nvPr/>
      </p:nvGrpSpPr>
      <p:grpSpPr>
        <a:xfrm>
          <a:off x="0" y="0"/>
          <a:ext cx="0" cy="0"/>
          <a:chOff x="0" y="0"/>
          <a:chExt cx="0" cy="0"/>
        </a:xfrm>
      </p:grpSpPr>
      <p:sp>
        <p:nvSpPr>
          <p:cNvPr id="314" name="Google Shape;314;p34"/>
          <p:cNvSpPr/>
          <p:nvPr/>
        </p:nvSpPr>
        <p:spPr>
          <a:xfrm>
            <a:off x="1028700" y="3063074"/>
            <a:ext cx="7046080" cy="6174128"/>
          </a:xfrm>
          <a:custGeom>
            <a:avLst/>
            <a:gdLst/>
            <a:ahLst/>
            <a:cxnLst/>
            <a:rect l="l" t="t" r="r" b="b"/>
            <a:pathLst>
              <a:path w="7046080" h="6174128" extrusionOk="0">
                <a:moveTo>
                  <a:pt x="0" y="0"/>
                </a:moveTo>
                <a:lnTo>
                  <a:pt x="7046080" y="0"/>
                </a:lnTo>
                <a:lnTo>
                  <a:pt x="7046080" y="6174128"/>
                </a:lnTo>
                <a:lnTo>
                  <a:pt x="0" y="6174128"/>
                </a:lnTo>
                <a:lnTo>
                  <a:pt x="0" y="0"/>
                </a:lnTo>
                <a:close/>
              </a:path>
            </a:pathLst>
          </a:custGeom>
          <a:blipFill rotWithShape="1">
            <a:blip r:embed="rId3">
              <a:alphaModFix/>
            </a:blip>
            <a:stretch>
              <a:fillRect/>
            </a:stretch>
          </a:blipFill>
          <a:ln>
            <a:noFill/>
          </a:ln>
        </p:spPr>
        <p:txBody>
          <a:bodyPr/>
          <a:lstStyle/>
          <a:p>
            <a:endParaRPr lang="en-US"/>
          </a:p>
        </p:txBody>
      </p:sp>
      <p:sp>
        <p:nvSpPr>
          <p:cNvPr id="315" name="Google Shape;315;p34"/>
          <p:cNvSpPr txBox="1"/>
          <p:nvPr/>
        </p:nvSpPr>
        <p:spPr>
          <a:xfrm>
            <a:off x="967084" y="1019175"/>
            <a:ext cx="2004715" cy="706925"/>
          </a:xfrm>
          <a:prstGeom prst="rect">
            <a:avLst/>
          </a:prstGeom>
          <a:noFill/>
          <a:ln>
            <a:noFill/>
          </a:ln>
        </p:spPr>
        <p:txBody>
          <a:bodyPr spcFirstLastPara="1" wrap="square" lIns="0" tIns="0" rIns="0" bIns="0" anchor="t" anchorCtr="0">
            <a:spAutoFit/>
          </a:bodyPr>
          <a:lstStyle/>
          <a:p>
            <a:pPr marL="0" marR="0" lvl="0" indent="0" algn="ctr" rtl="0">
              <a:lnSpc>
                <a:spcPct val="120004"/>
              </a:lnSpc>
              <a:spcBef>
                <a:spcPts val="0"/>
              </a:spcBef>
              <a:spcAft>
                <a:spcPts val="0"/>
              </a:spcAft>
              <a:buNone/>
            </a:pPr>
            <a:r>
              <a:rPr lang="en-US" sz="4899" b="0" i="0" u="none" strike="noStrike" cap="none">
                <a:solidFill>
                  <a:srgbClr val="FFFFFF"/>
                </a:solidFill>
                <a:latin typeface="Asap"/>
                <a:ea typeface="Asap"/>
                <a:cs typeface="Asap"/>
                <a:sym typeface="Asap"/>
              </a:rPr>
              <a:t>NPV:</a:t>
            </a:r>
            <a:endParaRPr/>
          </a:p>
        </p:txBody>
      </p:sp>
      <p:sp>
        <p:nvSpPr>
          <p:cNvPr id="316" name="Google Shape;316;p34"/>
          <p:cNvSpPr txBox="1"/>
          <p:nvPr/>
        </p:nvSpPr>
        <p:spPr>
          <a:xfrm>
            <a:off x="8445970" y="1019175"/>
            <a:ext cx="2911078" cy="752475"/>
          </a:xfrm>
          <a:prstGeom prst="rect">
            <a:avLst/>
          </a:prstGeom>
          <a:noFill/>
          <a:ln>
            <a:noFill/>
          </a:ln>
        </p:spPr>
        <p:txBody>
          <a:bodyPr spcFirstLastPara="1" wrap="square" lIns="0" tIns="0" rIns="0" bIns="0" anchor="t" anchorCtr="0">
            <a:spAutoFit/>
          </a:bodyPr>
          <a:lstStyle/>
          <a:p>
            <a:pPr marL="0" marR="0" lvl="0" indent="0" algn="ctr" rtl="0">
              <a:lnSpc>
                <a:spcPct val="120004"/>
              </a:lnSpc>
              <a:spcBef>
                <a:spcPts val="0"/>
              </a:spcBef>
              <a:spcAft>
                <a:spcPts val="0"/>
              </a:spcAft>
              <a:buNone/>
            </a:pPr>
            <a:r>
              <a:rPr lang="en-US" sz="4899" b="0" i="0" u="none" strike="noStrike" cap="none">
                <a:solidFill>
                  <a:srgbClr val="FFFFFF"/>
                </a:solidFill>
                <a:latin typeface="Asap"/>
                <a:ea typeface="Asap"/>
                <a:cs typeface="Asap"/>
                <a:sym typeface="Asap"/>
              </a:rPr>
              <a:t>Công thức:</a:t>
            </a:r>
            <a:endParaRPr/>
          </a:p>
        </p:txBody>
      </p:sp>
      <p:sp>
        <p:nvSpPr>
          <p:cNvPr id="317" name="Google Shape;317;p34"/>
          <p:cNvSpPr txBox="1"/>
          <p:nvPr/>
        </p:nvSpPr>
        <p:spPr>
          <a:xfrm>
            <a:off x="8445970" y="3063074"/>
            <a:ext cx="8927630" cy="723900"/>
          </a:xfrm>
          <a:prstGeom prst="rect">
            <a:avLst/>
          </a:prstGeom>
          <a:noFill/>
          <a:ln>
            <a:noFill/>
          </a:ln>
        </p:spPr>
        <p:txBody>
          <a:bodyPr spcFirstLastPara="1" wrap="square" lIns="0" tIns="0" rIns="0" bIns="0" anchor="t" anchorCtr="0">
            <a:spAutoFit/>
          </a:bodyPr>
          <a:lstStyle/>
          <a:p>
            <a:pPr marL="0" marR="0" lvl="0" indent="0" algn="ctr" rtl="0">
              <a:lnSpc>
                <a:spcPct val="119958"/>
              </a:lnSpc>
              <a:spcBef>
                <a:spcPts val="0"/>
              </a:spcBef>
              <a:spcAft>
                <a:spcPts val="0"/>
              </a:spcAft>
              <a:buNone/>
            </a:pPr>
            <a:r>
              <a:rPr lang="en-US" sz="2400" b="0" i="0" u="none" strike="noStrike" cap="none">
                <a:solidFill>
                  <a:srgbClr val="FFFFFF"/>
                </a:solidFill>
                <a:latin typeface="Asap"/>
                <a:ea typeface="Asap"/>
                <a:cs typeface="Asap"/>
                <a:sym typeface="Asap"/>
              </a:rPr>
              <a:t>NPV = Tổng (Lợi ích đã chiết khấu) - Tổng (Chi phí đã chiết khấu)</a:t>
            </a:r>
            <a:endParaRPr/>
          </a:p>
          <a:p>
            <a:pPr marL="0" marR="0" lvl="0" indent="0" algn="ctr" rtl="0">
              <a:lnSpc>
                <a:spcPct val="119958"/>
              </a:lnSpc>
              <a:spcBef>
                <a:spcPts val="0"/>
              </a:spcBef>
              <a:spcAft>
                <a:spcPts val="0"/>
              </a:spcAft>
              <a:buNone/>
            </a:pPr>
            <a:endParaRPr sz="2400" b="0" i="0" u="none" strike="noStrike" cap="none">
              <a:solidFill>
                <a:srgbClr val="FFFFFF"/>
              </a:solidFill>
              <a:latin typeface="Asap"/>
              <a:ea typeface="Asap"/>
              <a:cs typeface="Asap"/>
              <a:sym typeface="Asap"/>
            </a:endParaRPr>
          </a:p>
        </p:txBody>
      </p:sp>
      <p:sp>
        <p:nvSpPr>
          <p:cNvPr id="318" name="Google Shape;318;p34"/>
          <p:cNvSpPr txBox="1"/>
          <p:nvPr/>
        </p:nvSpPr>
        <p:spPr>
          <a:xfrm>
            <a:off x="8445970" y="3637732"/>
            <a:ext cx="8600100" cy="29859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2170" b="0" i="0" u="none" strike="noStrike" cap="none">
                <a:solidFill>
                  <a:srgbClr val="FFFFFF"/>
                </a:solidFill>
                <a:latin typeface="Asap"/>
                <a:ea typeface="Asap"/>
                <a:cs typeface="Asap"/>
                <a:sym typeface="Asap"/>
              </a:rPr>
              <a:t>   Giải thích ý nghĩa:</a:t>
            </a:r>
            <a:endParaRPr/>
          </a:p>
          <a:p>
            <a:pPr marL="518160" marR="0" lvl="1" indent="-259079" algn="just" rtl="0">
              <a:lnSpc>
                <a:spcPct val="119958"/>
              </a:lnSpc>
              <a:spcBef>
                <a:spcPts val="0"/>
              </a:spcBef>
              <a:spcAft>
                <a:spcPts val="0"/>
              </a:spcAft>
              <a:buClr>
                <a:srgbClr val="FFFFFF"/>
              </a:buClr>
              <a:buSzPts val="2400"/>
              <a:buFont typeface="Arial"/>
              <a:buChar char="•"/>
            </a:pPr>
            <a:r>
              <a:rPr lang="en-US" sz="2400" b="0" i="0" u="none" strike="noStrike" cap="none">
                <a:solidFill>
                  <a:srgbClr val="FFFFFF"/>
                </a:solidFill>
                <a:latin typeface="Asap"/>
                <a:ea typeface="Asap"/>
                <a:cs typeface="Asap"/>
                <a:sym typeface="Asap"/>
              </a:rPr>
              <a:t>Sau 5 năm, sau khi trừ đi trượt giá đồng tiền (chiết khấu 10%) và hoàn vốn đầu tư, dự án thực sự mang lại khoản lãi ròng (quy về giá trị hiện tại) là hơn 136 triệu đồng.</a:t>
            </a:r>
            <a:endParaRPr/>
          </a:p>
          <a:p>
            <a:pPr marL="518160" marR="0" lvl="1" indent="-259079" algn="just" rtl="0">
              <a:lnSpc>
                <a:spcPct val="119958"/>
              </a:lnSpc>
              <a:spcBef>
                <a:spcPts val="0"/>
              </a:spcBef>
              <a:spcAft>
                <a:spcPts val="0"/>
              </a:spcAft>
              <a:buClr>
                <a:srgbClr val="FFFFFF"/>
              </a:buClr>
              <a:buSzPts val="2400"/>
              <a:buFont typeface="Arial"/>
              <a:buChar char="•"/>
            </a:pPr>
            <a:r>
              <a:rPr lang="en-US" sz="2400" b="0" i="0" u="none" strike="noStrike" cap="none">
                <a:solidFill>
                  <a:srgbClr val="FFFFFF"/>
                </a:solidFill>
                <a:latin typeface="Asap"/>
                <a:ea typeface="Asap"/>
                <a:cs typeface="Asap"/>
                <a:sym typeface="Asap"/>
              </a:rPr>
              <a:t>Con số này dương (+) chứng tỏ dự án khả thi về mặt tài chính.</a:t>
            </a:r>
            <a:endParaRPr/>
          </a:p>
          <a:p>
            <a:pPr marL="259080" marR="0" lvl="1" indent="0" algn="just" rtl="0">
              <a:lnSpc>
                <a:spcPct val="119958"/>
              </a:lnSpc>
              <a:spcBef>
                <a:spcPts val="0"/>
              </a:spcBef>
              <a:spcAft>
                <a:spcPts val="0"/>
              </a:spcAft>
              <a:buNone/>
            </a:pPr>
            <a:endParaRPr sz="2400" b="0" i="0" u="none" strike="noStrike" cap="none">
              <a:solidFill>
                <a:srgbClr val="FFFFFF"/>
              </a:solidFill>
              <a:latin typeface="Asap"/>
              <a:ea typeface="Asap"/>
              <a:cs typeface="Asap"/>
              <a:sym typeface="As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22"/>
        <p:cNvGrpSpPr/>
        <p:nvPr/>
      </p:nvGrpSpPr>
      <p:grpSpPr>
        <a:xfrm>
          <a:off x="0" y="0"/>
          <a:ext cx="0" cy="0"/>
          <a:chOff x="0" y="0"/>
          <a:chExt cx="0" cy="0"/>
        </a:xfrm>
      </p:grpSpPr>
      <p:sp>
        <p:nvSpPr>
          <p:cNvPr id="323" name="Google Shape;323;p35"/>
          <p:cNvSpPr/>
          <p:nvPr/>
        </p:nvSpPr>
        <p:spPr>
          <a:xfrm>
            <a:off x="1028700" y="3302407"/>
            <a:ext cx="8034931" cy="5955893"/>
          </a:xfrm>
          <a:custGeom>
            <a:avLst/>
            <a:gdLst/>
            <a:ahLst/>
            <a:cxnLst/>
            <a:rect l="l" t="t" r="r" b="b"/>
            <a:pathLst>
              <a:path w="8034931" h="5955893" extrusionOk="0">
                <a:moveTo>
                  <a:pt x="0" y="0"/>
                </a:moveTo>
                <a:lnTo>
                  <a:pt x="8034931" y="0"/>
                </a:lnTo>
                <a:lnTo>
                  <a:pt x="8034931" y="5955893"/>
                </a:lnTo>
                <a:lnTo>
                  <a:pt x="0" y="5955893"/>
                </a:lnTo>
                <a:lnTo>
                  <a:pt x="0" y="0"/>
                </a:lnTo>
                <a:close/>
              </a:path>
            </a:pathLst>
          </a:custGeom>
          <a:blipFill rotWithShape="1">
            <a:blip r:embed="rId3">
              <a:alphaModFix/>
            </a:blip>
            <a:stretch>
              <a:fillRect/>
            </a:stretch>
          </a:blipFill>
          <a:ln>
            <a:noFill/>
          </a:ln>
        </p:spPr>
        <p:txBody>
          <a:bodyPr/>
          <a:lstStyle/>
          <a:p>
            <a:endParaRPr lang="en-US"/>
          </a:p>
        </p:txBody>
      </p:sp>
      <p:sp>
        <p:nvSpPr>
          <p:cNvPr id="324" name="Google Shape;324;p35"/>
          <p:cNvSpPr txBox="1"/>
          <p:nvPr/>
        </p:nvSpPr>
        <p:spPr>
          <a:xfrm>
            <a:off x="1028700" y="1019175"/>
            <a:ext cx="1133773" cy="752475"/>
          </a:xfrm>
          <a:prstGeom prst="rect">
            <a:avLst/>
          </a:prstGeom>
          <a:noFill/>
          <a:ln>
            <a:noFill/>
          </a:ln>
        </p:spPr>
        <p:txBody>
          <a:bodyPr spcFirstLastPara="1" wrap="square" lIns="0" tIns="0" rIns="0" bIns="0" anchor="t" anchorCtr="0">
            <a:spAutoFit/>
          </a:bodyPr>
          <a:lstStyle/>
          <a:p>
            <a:pPr marL="0" marR="0" lvl="0" indent="0" algn="ctr" rtl="0">
              <a:lnSpc>
                <a:spcPct val="120004"/>
              </a:lnSpc>
              <a:spcBef>
                <a:spcPts val="0"/>
              </a:spcBef>
              <a:spcAft>
                <a:spcPts val="0"/>
              </a:spcAft>
              <a:buNone/>
            </a:pPr>
            <a:r>
              <a:rPr lang="en-US" sz="4899" b="0" i="0" u="none" strike="noStrike" cap="none">
                <a:solidFill>
                  <a:srgbClr val="FFFFFF"/>
                </a:solidFill>
                <a:latin typeface="Asap"/>
                <a:ea typeface="Asap"/>
                <a:cs typeface="Asap"/>
                <a:sym typeface="Asap"/>
              </a:rPr>
              <a:t>ROI:</a:t>
            </a:r>
            <a:endParaRPr/>
          </a:p>
        </p:txBody>
      </p:sp>
      <p:sp>
        <p:nvSpPr>
          <p:cNvPr id="325" name="Google Shape;325;p35"/>
          <p:cNvSpPr txBox="1"/>
          <p:nvPr/>
        </p:nvSpPr>
        <p:spPr>
          <a:xfrm>
            <a:off x="9224371" y="3289700"/>
            <a:ext cx="5442903" cy="723900"/>
          </a:xfrm>
          <a:prstGeom prst="rect">
            <a:avLst/>
          </a:prstGeom>
          <a:noFill/>
          <a:ln>
            <a:noFill/>
          </a:ln>
        </p:spPr>
        <p:txBody>
          <a:bodyPr spcFirstLastPara="1" wrap="square" lIns="0" tIns="0" rIns="0" bIns="0" anchor="t" anchorCtr="0">
            <a:spAutoFit/>
          </a:bodyPr>
          <a:lstStyle/>
          <a:p>
            <a:pPr marL="0" marR="0" lvl="0" indent="0" algn="ctr" rtl="0">
              <a:lnSpc>
                <a:spcPct val="119958"/>
              </a:lnSpc>
              <a:spcBef>
                <a:spcPts val="0"/>
              </a:spcBef>
              <a:spcAft>
                <a:spcPts val="0"/>
              </a:spcAft>
              <a:buNone/>
            </a:pPr>
            <a:r>
              <a:rPr lang="en-US" sz="2400" b="0" i="0" u="none" strike="noStrike" cap="none">
                <a:solidFill>
                  <a:srgbClr val="FFFFFF"/>
                </a:solidFill>
                <a:latin typeface="Asap"/>
                <a:ea typeface="Asap"/>
                <a:cs typeface="Asap"/>
                <a:sym typeface="Asap"/>
              </a:rPr>
              <a:t>ROI =NPV/Tổng Chi phí đã chiết khấu</a:t>
            </a:r>
            <a:endParaRPr sz="2400" b="0" i="0" u="none" strike="noStrike" cap="none">
              <a:solidFill>
                <a:srgbClr val="FFFFFF"/>
              </a:solidFill>
              <a:latin typeface="Asap"/>
              <a:ea typeface="Asap"/>
              <a:cs typeface="Asap"/>
              <a:sym typeface="Asap"/>
            </a:endParaRPr>
          </a:p>
          <a:p>
            <a:pPr marL="0" marR="0" lvl="0" indent="0" algn="ctr" rtl="0">
              <a:lnSpc>
                <a:spcPct val="119958"/>
              </a:lnSpc>
              <a:spcBef>
                <a:spcPts val="0"/>
              </a:spcBef>
              <a:spcAft>
                <a:spcPts val="0"/>
              </a:spcAft>
              <a:buNone/>
            </a:pPr>
            <a:endParaRPr sz="2400" b="0" i="0" u="none" strike="noStrike" cap="none">
              <a:solidFill>
                <a:srgbClr val="FFFFFF"/>
              </a:solidFill>
              <a:latin typeface="Asap"/>
              <a:ea typeface="Asap"/>
              <a:cs typeface="Asap"/>
              <a:sym typeface="Asap"/>
            </a:endParaRPr>
          </a:p>
        </p:txBody>
      </p:sp>
      <p:sp>
        <p:nvSpPr>
          <p:cNvPr id="326" name="Google Shape;326;p35"/>
          <p:cNvSpPr txBox="1"/>
          <p:nvPr/>
        </p:nvSpPr>
        <p:spPr>
          <a:xfrm>
            <a:off x="9492297" y="1019175"/>
            <a:ext cx="2911078" cy="752475"/>
          </a:xfrm>
          <a:prstGeom prst="rect">
            <a:avLst/>
          </a:prstGeom>
          <a:noFill/>
          <a:ln>
            <a:noFill/>
          </a:ln>
        </p:spPr>
        <p:txBody>
          <a:bodyPr spcFirstLastPara="1" wrap="square" lIns="0" tIns="0" rIns="0" bIns="0" anchor="t" anchorCtr="0">
            <a:spAutoFit/>
          </a:bodyPr>
          <a:lstStyle/>
          <a:p>
            <a:pPr marL="0" marR="0" lvl="0" indent="0" algn="ctr" rtl="0">
              <a:lnSpc>
                <a:spcPct val="120004"/>
              </a:lnSpc>
              <a:spcBef>
                <a:spcPts val="0"/>
              </a:spcBef>
              <a:spcAft>
                <a:spcPts val="0"/>
              </a:spcAft>
              <a:buNone/>
            </a:pPr>
            <a:r>
              <a:rPr lang="en-US" sz="4899" b="0" i="0" u="none" strike="noStrike" cap="none">
                <a:solidFill>
                  <a:srgbClr val="FFFFFF"/>
                </a:solidFill>
                <a:latin typeface="Asap"/>
                <a:ea typeface="Asap"/>
                <a:cs typeface="Asap"/>
                <a:sym typeface="Asap"/>
              </a:rPr>
              <a:t>Công thức:</a:t>
            </a:r>
            <a:endParaRPr/>
          </a:p>
        </p:txBody>
      </p:sp>
      <p:sp>
        <p:nvSpPr>
          <p:cNvPr id="327" name="Google Shape;327;p35"/>
          <p:cNvSpPr txBox="1"/>
          <p:nvPr/>
        </p:nvSpPr>
        <p:spPr>
          <a:xfrm>
            <a:off x="9492297" y="3850843"/>
            <a:ext cx="7767003" cy="1809750"/>
          </a:xfrm>
          <a:prstGeom prst="rect">
            <a:avLst/>
          </a:prstGeom>
          <a:noFill/>
          <a:ln>
            <a:noFill/>
          </a:ln>
        </p:spPr>
        <p:txBody>
          <a:bodyPr spcFirstLastPara="1" wrap="square" lIns="0" tIns="0" rIns="0" bIns="0" anchor="t" anchorCtr="0">
            <a:spAutoFit/>
          </a:bodyPr>
          <a:lstStyle/>
          <a:p>
            <a:pPr marL="0" marR="0" lvl="0" indent="0" algn="just" rtl="0">
              <a:lnSpc>
                <a:spcPct val="119958"/>
              </a:lnSpc>
              <a:spcBef>
                <a:spcPts val="0"/>
              </a:spcBef>
              <a:spcAft>
                <a:spcPts val="0"/>
              </a:spcAft>
              <a:buNone/>
            </a:pPr>
            <a:r>
              <a:rPr lang="en-US" sz="2400" b="0" i="0" u="none" strike="noStrike" cap="none">
                <a:solidFill>
                  <a:srgbClr val="FFFFFF"/>
                </a:solidFill>
                <a:latin typeface="Asap"/>
                <a:ea typeface="Asap"/>
                <a:cs typeface="Asap"/>
                <a:sym typeface="Asap"/>
              </a:rPr>
              <a:t>Ý nghĩa: Chỉ số ROI = 1.17 nghĩa là sau 5 năm, với mỗi 1 đồng vốn bỏ ra (đã tính trượt giá), dự án không những thu hồi được vốn mà còn sinh ra thêm 1.17 đồng tiền lãi ròng. Đây là một tỷ suất sinh lời rất cao và hấp dẫn cho một dự án phần mềm ngắn hạn.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31"/>
        <p:cNvGrpSpPr/>
        <p:nvPr/>
      </p:nvGrpSpPr>
      <p:grpSpPr>
        <a:xfrm>
          <a:off x="0" y="0"/>
          <a:ext cx="0" cy="0"/>
          <a:chOff x="0" y="0"/>
          <a:chExt cx="0" cy="0"/>
        </a:xfrm>
      </p:grpSpPr>
      <p:sp>
        <p:nvSpPr>
          <p:cNvPr id="332" name="Google Shape;332;p36"/>
          <p:cNvSpPr/>
          <p:nvPr/>
        </p:nvSpPr>
        <p:spPr>
          <a:xfrm>
            <a:off x="9324359" y="1781175"/>
            <a:ext cx="7934941" cy="5882801"/>
          </a:xfrm>
          <a:custGeom>
            <a:avLst/>
            <a:gdLst/>
            <a:ahLst/>
            <a:cxnLst/>
            <a:rect l="l" t="t" r="r" b="b"/>
            <a:pathLst>
              <a:path w="7934941" h="5882801" extrusionOk="0">
                <a:moveTo>
                  <a:pt x="0" y="0"/>
                </a:moveTo>
                <a:lnTo>
                  <a:pt x="7934941" y="0"/>
                </a:lnTo>
                <a:lnTo>
                  <a:pt x="7934941" y="5882801"/>
                </a:lnTo>
                <a:lnTo>
                  <a:pt x="0" y="5882801"/>
                </a:lnTo>
                <a:lnTo>
                  <a:pt x="0" y="0"/>
                </a:lnTo>
                <a:close/>
              </a:path>
            </a:pathLst>
          </a:custGeom>
          <a:blipFill rotWithShape="1">
            <a:blip r:embed="rId3">
              <a:alphaModFix/>
            </a:blip>
            <a:stretch>
              <a:fillRect/>
            </a:stretch>
          </a:blipFill>
          <a:ln>
            <a:noFill/>
          </a:ln>
        </p:spPr>
        <p:txBody>
          <a:bodyPr/>
          <a:lstStyle/>
          <a:p>
            <a:endParaRPr lang="en-US"/>
          </a:p>
        </p:txBody>
      </p:sp>
      <p:sp>
        <p:nvSpPr>
          <p:cNvPr id="333" name="Google Shape;333;p36"/>
          <p:cNvSpPr txBox="1"/>
          <p:nvPr/>
        </p:nvSpPr>
        <p:spPr>
          <a:xfrm>
            <a:off x="1028700" y="1061750"/>
            <a:ext cx="2933700" cy="769500"/>
          </a:xfrm>
          <a:prstGeom prst="rect">
            <a:avLst/>
          </a:prstGeom>
          <a:noFill/>
          <a:ln>
            <a:noFill/>
          </a:ln>
        </p:spPr>
        <p:txBody>
          <a:bodyPr spcFirstLastPara="1" wrap="square" lIns="0" tIns="0" rIns="0" bIns="0" anchor="t" anchorCtr="0">
            <a:spAutoFit/>
          </a:bodyPr>
          <a:lstStyle/>
          <a:p>
            <a:pPr marL="0" marR="0" lvl="0" indent="0" algn="l" rtl="0">
              <a:lnSpc>
                <a:spcPct val="120004"/>
              </a:lnSpc>
              <a:spcBef>
                <a:spcPts val="0"/>
              </a:spcBef>
              <a:spcAft>
                <a:spcPts val="0"/>
              </a:spcAft>
              <a:buNone/>
            </a:pPr>
            <a:r>
              <a:rPr lang="en-US" sz="4999" b="0" i="0" u="none" strike="noStrike" cap="none">
                <a:solidFill>
                  <a:srgbClr val="FFFFFF"/>
                </a:solidFill>
                <a:latin typeface="Asap"/>
                <a:ea typeface="Asap"/>
                <a:cs typeface="Asap"/>
                <a:sym typeface="Asap"/>
              </a:rPr>
              <a:t>PAYPACK</a:t>
            </a:r>
            <a:endParaRPr/>
          </a:p>
        </p:txBody>
      </p:sp>
      <p:sp>
        <p:nvSpPr>
          <p:cNvPr id="334" name="Google Shape;334;p36"/>
          <p:cNvSpPr txBox="1"/>
          <p:nvPr/>
        </p:nvSpPr>
        <p:spPr>
          <a:xfrm>
            <a:off x="1028700" y="2135486"/>
            <a:ext cx="7957932" cy="1952625"/>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3200" b="1" i="0" u="none" strike="noStrike" cap="none">
                <a:solidFill>
                  <a:srgbClr val="FFFFFF"/>
                </a:solidFill>
                <a:latin typeface="Arial"/>
                <a:ea typeface="Arial"/>
                <a:cs typeface="Arial"/>
                <a:sym typeface="Arial"/>
              </a:rPr>
              <a:t>Payback Period (thời gian hoàn vốn) là số năm cần thiết để tổng lợi ích (doanh thu, tiết kiệm chi phí, lợi nhuận) của dự án bù đắp được tổng chi phí đầu tư ban đầu.</a:t>
            </a:r>
            <a:endParaRPr/>
          </a:p>
        </p:txBody>
      </p:sp>
      <p:sp>
        <p:nvSpPr>
          <p:cNvPr id="335" name="Google Shape;335;p36"/>
          <p:cNvSpPr txBox="1"/>
          <p:nvPr/>
        </p:nvSpPr>
        <p:spPr>
          <a:xfrm>
            <a:off x="1028700" y="8267700"/>
            <a:ext cx="14054780" cy="990600"/>
          </a:xfrm>
          <a:prstGeom prst="rect">
            <a:avLst/>
          </a:prstGeom>
          <a:noFill/>
          <a:ln>
            <a:noFill/>
          </a:ln>
        </p:spPr>
        <p:txBody>
          <a:bodyPr spcFirstLastPara="1" wrap="square" lIns="0" tIns="0" rIns="0" bIns="0" anchor="t" anchorCtr="0">
            <a:spAutoFit/>
          </a:bodyPr>
          <a:lstStyle/>
          <a:p>
            <a:pPr marL="690881" marR="0" lvl="1" indent="-345439" algn="just" rtl="0">
              <a:lnSpc>
                <a:spcPct val="120000"/>
              </a:lnSpc>
              <a:spcBef>
                <a:spcPts val="0"/>
              </a:spcBef>
              <a:spcAft>
                <a:spcPts val="0"/>
              </a:spcAft>
              <a:buClr>
                <a:srgbClr val="FFFFFF"/>
              </a:buClr>
              <a:buSzPts val="3200"/>
              <a:buFont typeface="Arial"/>
              <a:buChar char="•"/>
            </a:pPr>
            <a:r>
              <a:rPr lang="en-US" sz="3200" b="0" i="0" u="none" strike="noStrike" cap="none">
                <a:solidFill>
                  <a:srgbClr val="FFFFFF"/>
                </a:solidFill>
                <a:latin typeface="Asap"/>
                <a:ea typeface="Asap"/>
                <a:cs typeface="Asap"/>
                <a:sym typeface="Asap"/>
              </a:rPr>
              <a:t>Thời gian hoàn vốn chính xác: 1.76 năm (tính từ lúc bắt đầu vận hành).</a:t>
            </a:r>
            <a:endParaRPr/>
          </a:p>
          <a:p>
            <a:pPr marL="690881" marR="0" lvl="1" indent="-345439" algn="just" rtl="0">
              <a:lnSpc>
                <a:spcPct val="120000"/>
              </a:lnSpc>
              <a:spcBef>
                <a:spcPts val="0"/>
              </a:spcBef>
              <a:spcAft>
                <a:spcPts val="0"/>
              </a:spcAft>
              <a:buClr>
                <a:srgbClr val="FFFFFF"/>
              </a:buClr>
              <a:buSzPts val="3200"/>
              <a:buFont typeface="Arial"/>
              <a:buChar char="•"/>
            </a:pPr>
            <a:r>
              <a:rPr lang="en-US" sz="3200" b="0" i="0" u="none" strike="noStrike" cap="none">
                <a:solidFill>
                  <a:srgbClr val="FFFFFF"/>
                </a:solidFill>
                <a:latin typeface="Asap"/>
                <a:ea typeface="Asap"/>
                <a:cs typeface="Asap"/>
                <a:sym typeface="Asap"/>
              </a:rPr>
              <a:t>Dự án thu hồi vốn rất nhanh, chưa đến 2 năm sau khi ra mắt sản phẩm.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39"/>
        <p:cNvGrpSpPr/>
        <p:nvPr/>
      </p:nvGrpSpPr>
      <p:grpSpPr>
        <a:xfrm>
          <a:off x="0" y="0"/>
          <a:ext cx="0" cy="0"/>
          <a:chOff x="0" y="0"/>
          <a:chExt cx="0" cy="0"/>
        </a:xfrm>
      </p:grpSpPr>
      <p:sp>
        <p:nvSpPr>
          <p:cNvPr id="340" name="Google Shape;340;p37"/>
          <p:cNvSpPr/>
          <p:nvPr/>
        </p:nvSpPr>
        <p:spPr>
          <a:xfrm>
            <a:off x="1028700" y="1646623"/>
            <a:ext cx="6608731" cy="5955893"/>
          </a:xfrm>
          <a:custGeom>
            <a:avLst/>
            <a:gdLst/>
            <a:ahLst/>
            <a:cxnLst/>
            <a:rect l="l" t="t" r="r" b="b"/>
            <a:pathLst>
              <a:path w="6608731" h="5955893" extrusionOk="0">
                <a:moveTo>
                  <a:pt x="0" y="0"/>
                </a:moveTo>
                <a:lnTo>
                  <a:pt x="6608731" y="0"/>
                </a:lnTo>
                <a:lnTo>
                  <a:pt x="6608731" y="5955893"/>
                </a:lnTo>
                <a:lnTo>
                  <a:pt x="0" y="5955893"/>
                </a:lnTo>
                <a:lnTo>
                  <a:pt x="0" y="0"/>
                </a:lnTo>
                <a:close/>
              </a:path>
            </a:pathLst>
          </a:custGeom>
          <a:blipFill rotWithShape="1">
            <a:blip r:embed="rId3">
              <a:alphaModFix/>
            </a:blip>
            <a:stretch>
              <a:fillRect/>
            </a:stretch>
          </a:blipFill>
          <a:ln>
            <a:noFill/>
          </a:ln>
        </p:spPr>
        <p:txBody>
          <a:bodyPr/>
          <a:lstStyle/>
          <a:p>
            <a:endParaRPr lang="en-US"/>
          </a:p>
        </p:txBody>
      </p:sp>
      <p:sp>
        <p:nvSpPr>
          <p:cNvPr id="341" name="Google Shape;341;p37"/>
          <p:cNvSpPr/>
          <p:nvPr/>
        </p:nvSpPr>
        <p:spPr>
          <a:xfrm>
            <a:off x="10632924" y="1646623"/>
            <a:ext cx="6626376" cy="5951654"/>
          </a:xfrm>
          <a:custGeom>
            <a:avLst/>
            <a:gdLst/>
            <a:ahLst/>
            <a:cxnLst/>
            <a:rect l="l" t="t" r="r" b="b"/>
            <a:pathLst>
              <a:path w="6626376" h="5951654" extrusionOk="0">
                <a:moveTo>
                  <a:pt x="0" y="0"/>
                </a:moveTo>
                <a:lnTo>
                  <a:pt x="6626376" y="0"/>
                </a:lnTo>
                <a:lnTo>
                  <a:pt x="6626376" y="5951654"/>
                </a:lnTo>
                <a:lnTo>
                  <a:pt x="0" y="5951654"/>
                </a:lnTo>
                <a:lnTo>
                  <a:pt x="0" y="0"/>
                </a:lnTo>
                <a:close/>
              </a:path>
            </a:pathLst>
          </a:custGeom>
          <a:blipFill rotWithShape="1">
            <a:blip r:embed="rId4">
              <a:alphaModFix/>
            </a:blip>
            <a:stretch>
              <a:fillRect/>
            </a:stretch>
          </a:blipFill>
          <a:ln>
            <a:noFill/>
          </a:ln>
        </p:spPr>
        <p:txBody>
          <a:bodyPr/>
          <a:lstStyle/>
          <a:p>
            <a:endParaRPr lang="en-US"/>
          </a:p>
        </p:txBody>
      </p:sp>
      <p:sp>
        <p:nvSpPr>
          <p:cNvPr id="342" name="Google Shape;342;p37"/>
          <p:cNvSpPr txBox="1"/>
          <p:nvPr/>
        </p:nvSpPr>
        <p:spPr>
          <a:xfrm>
            <a:off x="1028700" y="1009650"/>
            <a:ext cx="12422535" cy="5048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200" b="0" i="0" u="none" strike="noStrike" cap="none">
                <a:solidFill>
                  <a:srgbClr val="FFFFFF"/>
                </a:solidFill>
                <a:latin typeface="Asap"/>
                <a:ea typeface="Asap"/>
                <a:cs typeface="Asap"/>
                <a:sym typeface="Asap"/>
              </a:rPr>
              <a:t>Tổng số giờ và công việc chi tiết của từng thành viên kèm theo chi phí</a:t>
            </a:r>
            <a:endParaRPr/>
          </a:p>
        </p:txBody>
      </p:sp>
      <p:sp>
        <p:nvSpPr>
          <p:cNvPr id="343" name="Google Shape;343;p37"/>
          <p:cNvSpPr txBox="1"/>
          <p:nvPr/>
        </p:nvSpPr>
        <p:spPr>
          <a:xfrm>
            <a:off x="1028700" y="8065723"/>
            <a:ext cx="6185598" cy="17486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25" b="0" i="0" u="none" strike="noStrike" cap="none">
                <a:solidFill>
                  <a:srgbClr val="FFFFFF"/>
                </a:solidFill>
                <a:latin typeface="Play"/>
                <a:ea typeface="Play"/>
                <a:cs typeface="Play"/>
                <a:sym typeface="Play"/>
              </a:rPr>
              <a:t>Bùi Ngọc Huy</a:t>
            </a:r>
            <a:endParaRPr/>
          </a:p>
          <a:p>
            <a:pPr marL="0" marR="0" lvl="0" indent="0" algn="l" rtl="0">
              <a:lnSpc>
                <a:spcPct val="100000"/>
              </a:lnSpc>
              <a:spcBef>
                <a:spcPts val="0"/>
              </a:spcBef>
              <a:spcAft>
                <a:spcPts val="0"/>
              </a:spcAft>
              <a:buNone/>
            </a:pPr>
            <a:r>
              <a:rPr lang="en-US" sz="2725" b="0" i="0" u="none" strike="noStrike" cap="none">
                <a:solidFill>
                  <a:srgbClr val="FFFFFF"/>
                </a:solidFill>
                <a:latin typeface="Play"/>
                <a:ea typeface="Play"/>
                <a:cs typeface="Play"/>
                <a:sym typeface="Play"/>
              </a:rPr>
              <a:t>Actual Work: 560 hrs</a:t>
            </a:r>
            <a:endParaRPr/>
          </a:p>
          <a:p>
            <a:pPr marL="0" marR="0" lvl="0" indent="0" algn="l" rtl="0">
              <a:lnSpc>
                <a:spcPct val="100000"/>
              </a:lnSpc>
              <a:spcBef>
                <a:spcPts val="0"/>
              </a:spcBef>
              <a:spcAft>
                <a:spcPts val="0"/>
              </a:spcAft>
              <a:buNone/>
            </a:pPr>
            <a:r>
              <a:rPr lang="en-US" sz="2725" b="0" i="0" u="none" strike="noStrike" cap="none">
                <a:solidFill>
                  <a:srgbClr val="FFFFFF"/>
                </a:solidFill>
                <a:latin typeface="Play"/>
                <a:ea typeface="Play"/>
                <a:cs typeface="Play"/>
                <a:sym typeface="Play"/>
              </a:rPr>
              <a:t>Actual Cost: $2240</a:t>
            </a:r>
            <a:endParaRPr/>
          </a:p>
          <a:p>
            <a:pPr marL="0" marR="0" lvl="0" indent="0" algn="l" rtl="0">
              <a:lnSpc>
                <a:spcPct val="100000"/>
              </a:lnSpc>
              <a:spcBef>
                <a:spcPts val="0"/>
              </a:spcBef>
              <a:spcAft>
                <a:spcPts val="0"/>
              </a:spcAft>
              <a:buNone/>
            </a:pPr>
            <a:r>
              <a:rPr lang="en-US" sz="2725" b="0" i="0" u="none" strike="noStrike" cap="none">
                <a:solidFill>
                  <a:srgbClr val="FFFFFF"/>
                </a:solidFill>
                <a:latin typeface="Play"/>
                <a:ea typeface="Play"/>
                <a:cs typeface="Play"/>
                <a:sym typeface="Play"/>
              </a:rPr>
              <a:t>Remaining: 0 hrs</a:t>
            </a:r>
            <a:endParaRPr/>
          </a:p>
          <a:p>
            <a:pPr marL="0" marR="0" lvl="0" indent="0" algn="l" rtl="0">
              <a:lnSpc>
                <a:spcPct val="100000"/>
              </a:lnSpc>
              <a:spcBef>
                <a:spcPts val="0"/>
              </a:spcBef>
              <a:spcAft>
                <a:spcPts val="0"/>
              </a:spcAft>
              <a:buNone/>
            </a:pPr>
            <a:r>
              <a:rPr lang="en-US" sz="2725" b="0" i="0" u="none" strike="noStrike" cap="none">
                <a:solidFill>
                  <a:srgbClr val="FFFFFF"/>
                </a:solidFill>
                <a:latin typeface="Play"/>
                <a:ea typeface="Play"/>
                <a:cs typeface="Play"/>
                <a:sym typeface="Play"/>
              </a:rPr>
              <a:t>Remaining Cost: $0</a:t>
            </a:r>
            <a:endParaRPr/>
          </a:p>
        </p:txBody>
      </p:sp>
      <p:sp>
        <p:nvSpPr>
          <p:cNvPr id="344" name="Google Shape;344;p37"/>
          <p:cNvSpPr txBox="1"/>
          <p:nvPr/>
        </p:nvSpPr>
        <p:spPr>
          <a:xfrm>
            <a:off x="10632924" y="8065723"/>
            <a:ext cx="6185598" cy="17486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25" b="0" i="0" u="none" strike="noStrike" cap="none">
                <a:solidFill>
                  <a:srgbClr val="FFFFFF"/>
                </a:solidFill>
                <a:latin typeface="Play"/>
                <a:ea typeface="Play"/>
                <a:cs typeface="Play"/>
                <a:sym typeface="Play"/>
              </a:rPr>
              <a:t>Nguyễn Quốc Yên</a:t>
            </a:r>
            <a:endParaRPr/>
          </a:p>
          <a:p>
            <a:pPr marL="0" marR="0" lvl="0" indent="0" algn="l" rtl="0">
              <a:lnSpc>
                <a:spcPct val="100000"/>
              </a:lnSpc>
              <a:spcBef>
                <a:spcPts val="0"/>
              </a:spcBef>
              <a:spcAft>
                <a:spcPts val="0"/>
              </a:spcAft>
              <a:buNone/>
            </a:pPr>
            <a:r>
              <a:rPr lang="en-US" sz="2725" b="0" i="0" u="none" strike="noStrike" cap="none">
                <a:solidFill>
                  <a:srgbClr val="FFFFFF"/>
                </a:solidFill>
                <a:latin typeface="Play"/>
                <a:ea typeface="Play"/>
                <a:cs typeface="Play"/>
                <a:sym typeface="Play"/>
              </a:rPr>
              <a:t>Actual Work: 560 hrs</a:t>
            </a:r>
            <a:endParaRPr/>
          </a:p>
          <a:p>
            <a:pPr marL="0" marR="0" lvl="0" indent="0" algn="l" rtl="0">
              <a:lnSpc>
                <a:spcPct val="100000"/>
              </a:lnSpc>
              <a:spcBef>
                <a:spcPts val="0"/>
              </a:spcBef>
              <a:spcAft>
                <a:spcPts val="0"/>
              </a:spcAft>
              <a:buNone/>
            </a:pPr>
            <a:r>
              <a:rPr lang="en-US" sz="2725" b="0" i="0" u="none" strike="noStrike" cap="none">
                <a:solidFill>
                  <a:srgbClr val="FFFFFF"/>
                </a:solidFill>
                <a:latin typeface="Play"/>
                <a:ea typeface="Play"/>
                <a:cs typeface="Play"/>
                <a:sym typeface="Play"/>
              </a:rPr>
              <a:t>Actual Cost: $2240</a:t>
            </a:r>
            <a:endParaRPr/>
          </a:p>
          <a:p>
            <a:pPr marL="0" marR="0" lvl="0" indent="0" algn="l" rtl="0">
              <a:lnSpc>
                <a:spcPct val="100000"/>
              </a:lnSpc>
              <a:spcBef>
                <a:spcPts val="0"/>
              </a:spcBef>
              <a:spcAft>
                <a:spcPts val="0"/>
              </a:spcAft>
              <a:buNone/>
            </a:pPr>
            <a:r>
              <a:rPr lang="en-US" sz="2725" b="0" i="0" u="none" strike="noStrike" cap="none">
                <a:solidFill>
                  <a:srgbClr val="FFFFFF"/>
                </a:solidFill>
                <a:latin typeface="Play"/>
                <a:ea typeface="Play"/>
                <a:cs typeface="Play"/>
                <a:sym typeface="Play"/>
              </a:rPr>
              <a:t>Remaining: 0 hrs</a:t>
            </a:r>
            <a:endParaRPr/>
          </a:p>
          <a:p>
            <a:pPr marL="0" marR="0" lvl="0" indent="0" algn="l" rtl="0">
              <a:lnSpc>
                <a:spcPct val="100000"/>
              </a:lnSpc>
              <a:spcBef>
                <a:spcPts val="0"/>
              </a:spcBef>
              <a:spcAft>
                <a:spcPts val="0"/>
              </a:spcAft>
              <a:buNone/>
            </a:pPr>
            <a:r>
              <a:rPr lang="en-US" sz="2725" b="0" i="0" u="none" strike="noStrike" cap="none">
                <a:solidFill>
                  <a:srgbClr val="FFFFFF"/>
                </a:solidFill>
                <a:latin typeface="Play"/>
                <a:ea typeface="Play"/>
                <a:cs typeface="Play"/>
                <a:sym typeface="Play"/>
              </a:rPr>
              <a:t>Remaining Cost: $0</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48"/>
        <p:cNvGrpSpPr/>
        <p:nvPr/>
      </p:nvGrpSpPr>
      <p:grpSpPr>
        <a:xfrm>
          <a:off x="0" y="0"/>
          <a:ext cx="0" cy="0"/>
          <a:chOff x="0" y="0"/>
          <a:chExt cx="0" cy="0"/>
        </a:xfrm>
      </p:grpSpPr>
      <p:sp>
        <p:nvSpPr>
          <p:cNvPr id="349" name="Google Shape;349;p38"/>
          <p:cNvSpPr/>
          <p:nvPr/>
        </p:nvSpPr>
        <p:spPr>
          <a:xfrm>
            <a:off x="1028700" y="1611606"/>
            <a:ext cx="16223661" cy="4137033"/>
          </a:xfrm>
          <a:custGeom>
            <a:avLst/>
            <a:gdLst/>
            <a:ahLst/>
            <a:cxnLst/>
            <a:rect l="l" t="t" r="r" b="b"/>
            <a:pathLst>
              <a:path w="16223661" h="4137033" extrusionOk="0">
                <a:moveTo>
                  <a:pt x="0" y="0"/>
                </a:moveTo>
                <a:lnTo>
                  <a:pt x="16223661" y="0"/>
                </a:lnTo>
                <a:lnTo>
                  <a:pt x="16223661" y="4137033"/>
                </a:lnTo>
                <a:lnTo>
                  <a:pt x="0" y="4137033"/>
                </a:lnTo>
                <a:lnTo>
                  <a:pt x="0" y="0"/>
                </a:lnTo>
                <a:close/>
              </a:path>
            </a:pathLst>
          </a:custGeom>
          <a:blipFill rotWithShape="1">
            <a:blip r:embed="rId3">
              <a:alphaModFix/>
            </a:blip>
            <a:stretch>
              <a:fillRect/>
            </a:stretch>
          </a:blipFill>
          <a:ln>
            <a:noFill/>
          </a:ln>
        </p:spPr>
        <p:txBody>
          <a:bodyPr/>
          <a:lstStyle/>
          <a:p>
            <a:endParaRPr lang="en-US"/>
          </a:p>
        </p:txBody>
      </p:sp>
      <p:sp>
        <p:nvSpPr>
          <p:cNvPr id="350" name="Google Shape;350;p38"/>
          <p:cNvSpPr txBox="1"/>
          <p:nvPr/>
        </p:nvSpPr>
        <p:spPr>
          <a:xfrm>
            <a:off x="3797469" y="878181"/>
            <a:ext cx="9693325" cy="733425"/>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0" i="0" u="none" strike="noStrike" cap="none">
                <a:solidFill>
                  <a:srgbClr val="FFFFFF"/>
                </a:solidFill>
                <a:latin typeface="Asap"/>
                <a:ea typeface="Asap"/>
                <a:cs typeface="Asap"/>
                <a:sym typeface="Asap"/>
              </a:rPr>
              <a:t>Bảng Phân Tích Chi Phí Dự Án (EVM)</a:t>
            </a:r>
            <a:endParaRPr/>
          </a:p>
        </p:txBody>
      </p:sp>
      <p:sp>
        <p:nvSpPr>
          <p:cNvPr id="351" name="Google Shape;351;p38"/>
          <p:cNvSpPr txBox="1"/>
          <p:nvPr/>
        </p:nvSpPr>
        <p:spPr>
          <a:xfrm>
            <a:off x="0" y="5952340"/>
            <a:ext cx="18395770" cy="34624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725" b="0" i="0" u="none" strike="noStrike" cap="none">
                <a:solidFill>
                  <a:schemeClr val="lt1"/>
                </a:solidFill>
                <a:latin typeface="Asap"/>
                <a:ea typeface="Asap"/>
                <a:cs typeface="Asap"/>
                <a:sym typeface="Asap"/>
              </a:rPr>
              <a:t>=&gt; Chênh lệch cuối VAC = BAC - EAC = 0 VNĐ. Dự án dự đoán hoàn thành đúng bằng ngân sách ban đầu</a:t>
            </a:r>
            <a:endParaRPr sz="2725" b="0" i="0" u="none" strike="noStrike" cap="none">
              <a:solidFill>
                <a:schemeClr val="lt1"/>
              </a:solidFill>
              <a:latin typeface="Asap"/>
              <a:ea typeface="Asap"/>
              <a:cs typeface="Asap"/>
              <a:sym typeface="As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55"/>
        <p:cNvGrpSpPr/>
        <p:nvPr/>
      </p:nvGrpSpPr>
      <p:grpSpPr>
        <a:xfrm>
          <a:off x="0" y="0"/>
          <a:ext cx="0" cy="0"/>
          <a:chOff x="0" y="0"/>
          <a:chExt cx="0" cy="0"/>
        </a:xfrm>
      </p:grpSpPr>
      <p:sp>
        <p:nvSpPr>
          <p:cNvPr id="356" name="Google Shape;356;p39"/>
          <p:cNvSpPr/>
          <p:nvPr/>
        </p:nvSpPr>
        <p:spPr>
          <a:xfrm>
            <a:off x="5696713" y="1028700"/>
            <a:ext cx="7494869" cy="4213853"/>
          </a:xfrm>
          <a:custGeom>
            <a:avLst/>
            <a:gdLst/>
            <a:ahLst/>
            <a:cxnLst/>
            <a:rect l="l" t="t" r="r" b="b"/>
            <a:pathLst>
              <a:path w="7494869" h="4213853" extrusionOk="0">
                <a:moveTo>
                  <a:pt x="0" y="0"/>
                </a:moveTo>
                <a:lnTo>
                  <a:pt x="7494869" y="0"/>
                </a:lnTo>
                <a:lnTo>
                  <a:pt x="7494869" y="4213853"/>
                </a:lnTo>
                <a:lnTo>
                  <a:pt x="0" y="4213853"/>
                </a:lnTo>
                <a:lnTo>
                  <a:pt x="0" y="0"/>
                </a:lnTo>
                <a:close/>
              </a:path>
            </a:pathLst>
          </a:custGeom>
          <a:blipFill rotWithShape="1">
            <a:blip r:embed="rId3">
              <a:alphaModFix/>
            </a:blip>
            <a:stretch>
              <a:fillRect/>
            </a:stretch>
          </a:blipFill>
          <a:ln>
            <a:noFill/>
          </a:ln>
        </p:spPr>
        <p:txBody>
          <a:bodyPr/>
          <a:lstStyle/>
          <a:p>
            <a:endParaRPr lang="en-US"/>
          </a:p>
        </p:txBody>
      </p:sp>
      <p:sp>
        <p:nvSpPr>
          <p:cNvPr id="357" name="Google Shape;357;p39"/>
          <p:cNvSpPr txBox="1"/>
          <p:nvPr/>
        </p:nvSpPr>
        <p:spPr>
          <a:xfrm>
            <a:off x="1028700" y="878181"/>
            <a:ext cx="4449514" cy="733425"/>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0" i="0" u="none" strike="noStrike" cap="none">
                <a:solidFill>
                  <a:srgbClr val="FFFFFF"/>
                </a:solidFill>
                <a:latin typeface="Asap"/>
                <a:ea typeface="Asap"/>
                <a:cs typeface="Asap"/>
                <a:sym typeface="Asap"/>
              </a:rPr>
              <a:t>Project Statistics</a:t>
            </a:r>
            <a:endParaRPr/>
          </a:p>
        </p:txBody>
      </p:sp>
      <p:sp>
        <p:nvSpPr>
          <p:cNvPr id="358" name="Google Shape;358;p39"/>
          <p:cNvSpPr txBox="1"/>
          <p:nvPr/>
        </p:nvSpPr>
        <p:spPr>
          <a:xfrm>
            <a:off x="680572" y="5461324"/>
            <a:ext cx="16700830" cy="44323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FFFFFF"/>
                </a:solidFill>
                <a:latin typeface="Asap"/>
                <a:ea typeface="Asap"/>
                <a:cs typeface="Asap"/>
                <a:sym typeface="Asap"/>
              </a:rPr>
              <a:t>Nhận xét: Dựa trên bảng Project Statistics và EVM, dự án này là một trường hợp lý tưởng tuyệt đối:</a:t>
            </a:r>
            <a:endParaRPr/>
          </a:p>
        </p:txBody>
      </p:sp>
      <p:sp>
        <p:nvSpPr>
          <p:cNvPr id="359" name="Google Shape;359;p39"/>
          <p:cNvSpPr txBox="1"/>
          <p:nvPr/>
        </p:nvSpPr>
        <p:spPr>
          <a:xfrm>
            <a:off x="1028700" y="6523376"/>
            <a:ext cx="16230600" cy="2955300"/>
          </a:xfrm>
          <a:prstGeom prst="rect">
            <a:avLst/>
          </a:prstGeom>
          <a:noFill/>
          <a:ln>
            <a:noFill/>
          </a:ln>
        </p:spPr>
        <p:txBody>
          <a:bodyPr spcFirstLastPara="1" wrap="square" lIns="0" tIns="0" rIns="0" bIns="0" anchor="t" anchorCtr="0">
            <a:spAutoFit/>
          </a:bodyPr>
          <a:lstStyle/>
          <a:p>
            <a:pPr marL="690881" marR="0" lvl="1" indent="-345440" algn="just" rtl="0">
              <a:lnSpc>
                <a:spcPct val="100000"/>
              </a:lnSpc>
              <a:spcBef>
                <a:spcPts val="0"/>
              </a:spcBef>
              <a:spcAft>
                <a:spcPts val="0"/>
              </a:spcAft>
              <a:buClr>
                <a:srgbClr val="FFFFFF"/>
              </a:buClr>
              <a:buSzPts val="3200"/>
              <a:buFont typeface="Arial"/>
              <a:buChar char="•"/>
            </a:pPr>
            <a:r>
              <a:rPr lang="en-US" sz="3200" b="0" i="0" u="none" strike="noStrike" cap="none">
                <a:solidFill>
                  <a:srgbClr val="FFFFFF"/>
                </a:solidFill>
                <a:latin typeface="Asap"/>
                <a:ea typeface="Asap"/>
                <a:cs typeface="Asap"/>
                <a:sym typeface="Asap"/>
              </a:rPr>
              <a:t>Về chi phí: Kế hoạch tốn 112 triệu và thực tế làm hết đúng 112 triệu. Không bị vượt ngân sách (Cost Variance = 0).</a:t>
            </a:r>
            <a:endParaRPr sz="3200" b="0" i="0" u="none" strike="noStrike" cap="none">
              <a:solidFill>
                <a:srgbClr val="FFFFFF"/>
              </a:solidFill>
              <a:latin typeface="Asap"/>
              <a:ea typeface="Asap"/>
              <a:cs typeface="Asap"/>
              <a:sym typeface="Asap"/>
            </a:endParaRPr>
          </a:p>
          <a:p>
            <a:pPr marL="690881" marR="0" lvl="1" indent="-345440" algn="just" rtl="0">
              <a:lnSpc>
                <a:spcPct val="100000"/>
              </a:lnSpc>
              <a:spcBef>
                <a:spcPts val="0"/>
              </a:spcBef>
              <a:spcAft>
                <a:spcPts val="0"/>
              </a:spcAft>
              <a:buClr>
                <a:srgbClr val="FFFFFF"/>
              </a:buClr>
              <a:buSzPts val="3200"/>
              <a:buFont typeface="Arial"/>
              <a:buChar char="•"/>
            </a:pPr>
            <a:r>
              <a:rPr lang="en-US" sz="3200" b="0" i="0" u="none" strike="noStrike" cap="none">
                <a:solidFill>
                  <a:srgbClr val="FFFFFF"/>
                </a:solidFill>
                <a:latin typeface="Asap"/>
                <a:ea typeface="Asap"/>
                <a:cs typeface="Asap"/>
                <a:sym typeface="Asap"/>
              </a:rPr>
              <a:t>Về tiến độ: Dự án đã hoàn thành 100% đúng như kế hoạch đường cơ sở (Baseline), không bị trễ hạn.</a:t>
            </a:r>
            <a:endParaRPr sz="3200" b="0" i="0" u="none" strike="noStrike" cap="none">
              <a:solidFill>
                <a:srgbClr val="FFFFFF"/>
              </a:solidFill>
              <a:latin typeface="Asap"/>
              <a:ea typeface="Asap"/>
              <a:cs typeface="Asap"/>
              <a:sym typeface="Asap"/>
            </a:endParaRPr>
          </a:p>
          <a:p>
            <a:pPr marL="690881" marR="0" lvl="1" indent="-345439" algn="just" rtl="0">
              <a:lnSpc>
                <a:spcPct val="100000"/>
              </a:lnSpc>
              <a:spcBef>
                <a:spcPts val="0"/>
              </a:spcBef>
              <a:spcAft>
                <a:spcPts val="0"/>
              </a:spcAft>
              <a:buClr>
                <a:srgbClr val="FFFFFF"/>
              </a:buClr>
              <a:buSzPts val="3200"/>
              <a:buFont typeface="Arial"/>
              <a:buChar char="•"/>
            </a:pPr>
            <a:r>
              <a:rPr lang="en-US" sz="3200" b="0" i="0" u="none" strike="noStrike" cap="none">
                <a:solidFill>
                  <a:srgbClr val="FFFFFF"/>
                </a:solidFill>
                <a:latin typeface="Asap"/>
                <a:ea typeface="Asap"/>
                <a:cs typeface="Asap"/>
                <a:sym typeface="Asap"/>
              </a:rPr>
              <a:t>Hiệu quả: Chỉ số CPI và SPI đều bằng 1.0, cho thấy năng suất làm việc và quản lý chi phí đạt hiệu quả tối đa theo kế hoạch đề ra.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63"/>
        <p:cNvGrpSpPr/>
        <p:nvPr/>
      </p:nvGrpSpPr>
      <p:grpSpPr>
        <a:xfrm>
          <a:off x="0" y="0"/>
          <a:ext cx="0" cy="0"/>
          <a:chOff x="0" y="0"/>
          <a:chExt cx="0" cy="0"/>
        </a:xfrm>
      </p:grpSpPr>
      <p:sp>
        <p:nvSpPr>
          <p:cNvPr id="364" name="Google Shape;364;p40"/>
          <p:cNvSpPr/>
          <p:nvPr/>
        </p:nvSpPr>
        <p:spPr>
          <a:xfrm>
            <a:off x="5829327" y="2186672"/>
            <a:ext cx="7463460" cy="7071628"/>
          </a:xfrm>
          <a:custGeom>
            <a:avLst/>
            <a:gdLst/>
            <a:ahLst/>
            <a:cxnLst/>
            <a:rect l="l" t="t" r="r" b="b"/>
            <a:pathLst>
              <a:path w="7463460" h="7071628" extrusionOk="0">
                <a:moveTo>
                  <a:pt x="0" y="0"/>
                </a:moveTo>
                <a:lnTo>
                  <a:pt x="7463460" y="0"/>
                </a:lnTo>
                <a:lnTo>
                  <a:pt x="7463460" y="7071628"/>
                </a:lnTo>
                <a:lnTo>
                  <a:pt x="0" y="7071628"/>
                </a:lnTo>
                <a:lnTo>
                  <a:pt x="0" y="0"/>
                </a:lnTo>
                <a:close/>
              </a:path>
            </a:pathLst>
          </a:custGeom>
          <a:blipFill rotWithShape="1">
            <a:blip r:embed="rId3">
              <a:alphaModFix/>
            </a:blip>
            <a:stretch>
              <a:fillRect/>
            </a:stretch>
          </a:blipFill>
          <a:ln>
            <a:noFill/>
          </a:ln>
        </p:spPr>
        <p:txBody>
          <a:bodyPr/>
          <a:lstStyle/>
          <a:p>
            <a:endParaRPr lang="en-US"/>
          </a:p>
        </p:txBody>
      </p:sp>
      <p:sp>
        <p:nvSpPr>
          <p:cNvPr id="365" name="Google Shape;365;p40"/>
          <p:cNvSpPr txBox="1"/>
          <p:nvPr/>
        </p:nvSpPr>
        <p:spPr>
          <a:xfrm>
            <a:off x="1028700" y="1019175"/>
            <a:ext cx="5363319" cy="733425"/>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0" i="0" u="none" strike="noStrike" cap="none">
                <a:solidFill>
                  <a:srgbClr val="FFFFFF"/>
                </a:solidFill>
                <a:latin typeface="Asap"/>
                <a:ea typeface="Asap"/>
                <a:cs typeface="Asap"/>
                <a:sym typeface="Asap"/>
              </a:rPr>
              <a:t>Phân tích &amp; Thiết kế</a:t>
            </a:r>
            <a:endParaRPr/>
          </a:p>
        </p:txBody>
      </p:sp>
      <p:sp>
        <p:nvSpPr>
          <p:cNvPr id="366" name="Google Shape;366;p40"/>
          <p:cNvSpPr txBox="1"/>
          <p:nvPr/>
        </p:nvSpPr>
        <p:spPr>
          <a:xfrm>
            <a:off x="1028700" y="2186672"/>
            <a:ext cx="2398961" cy="419100"/>
          </a:xfrm>
          <a:prstGeom prst="rect">
            <a:avLst/>
          </a:prstGeom>
          <a:noFill/>
          <a:ln>
            <a:noFill/>
          </a:ln>
        </p:spPr>
        <p:txBody>
          <a:bodyPr spcFirstLastPara="1" wrap="square" lIns="0" tIns="0" rIns="0" bIns="0" anchor="t" anchorCtr="0">
            <a:spAutoFit/>
          </a:bodyPr>
          <a:lstStyle/>
          <a:p>
            <a:pPr marL="0" marR="0" lvl="0" indent="0" algn="ctr" rtl="0">
              <a:lnSpc>
                <a:spcPct val="120007"/>
              </a:lnSpc>
              <a:spcBef>
                <a:spcPts val="0"/>
              </a:spcBef>
              <a:spcAft>
                <a:spcPts val="0"/>
              </a:spcAft>
              <a:buNone/>
            </a:pPr>
            <a:r>
              <a:rPr lang="en-US" sz="2799" b="1" i="0" u="none" strike="noStrike" cap="none">
                <a:solidFill>
                  <a:srgbClr val="FFFFFF"/>
                </a:solidFill>
                <a:latin typeface="Arial"/>
                <a:ea typeface="Arial"/>
                <a:cs typeface="Arial"/>
                <a:sym typeface="Arial"/>
              </a:rPr>
              <a:t>Sơ đồ Use Case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70"/>
        <p:cNvGrpSpPr/>
        <p:nvPr/>
      </p:nvGrpSpPr>
      <p:grpSpPr>
        <a:xfrm>
          <a:off x="0" y="0"/>
          <a:ext cx="0" cy="0"/>
          <a:chOff x="0" y="0"/>
          <a:chExt cx="0" cy="0"/>
        </a:xfrm>
      </p:grpSpPr>
      <p:sp>
        <p:nvSpPr>
          <p:cNvPr id="371" name="Google Shape;371;p41"/>
          <p:cNvSpPr/>
          <p:nvPr/>
        </p:nvSpPr>
        <p:spPr>
          <a:xfrm>
            <a:off x="5382246" y="2238048"/>
            <a:ext cx="6703269" cy="7020252"/>
          </a:xfrm>
          <a:custGeom>
            <a:avLst/>
            <a:gdLst/>
            <a:ahLst/>
            <a:cxnLst/>
            <a:rect l="l" t="t" r="r" b="b"/>
            <a:pathLst>
              <a:path w="6703269" h="7020252" extrusionOk="0">
                <a:moveTo>
                  <a:pt x="0" y="0"/>
                </a:moveTo>
                <a:lnTo>
                  <a:pt x="6703269" y="0"/>
                </a:lnTo>
                <a:lnTo>
                  <a:pt x="6703269" y="7020252"/>
                </a:lnTo>
                <a:lnTo>
                  <a:pt x="0" y="7020252"/>
                </a:lnTo>
                <a:lnTo>
                  <a:pt x="0" y="0"/>
                </a:lnTo>
                <a:close/>
              </a:path>
            </a:pathLst>
          </a:custGeom>
          <a:blipFill rotWithShape="1">
            <a:blip r:embed="rId3">
              <a:alphaModFix/>
            </a:blip>
            <a:stretch>
              <a:fillRect/>
            </a:stretch>
          </a:blipFill>
          <a:ln>
            <a:noFill/>
          </a:ln>
        </p:spPr>
        <p:txBody>
          <a:bodyPr/>
          <a:lstStyle/>
          <a:p>
            <a:endParaRPr lang="en-US"/>
          </a:p>
        </p:txBody>
      </p:sp>
      <p:sp>
        <p:nvSpPr>
          <p:cNvPr id="372" name="Google Shape;372;p41"/>
          <p:cNvSpPr txBox="1"/>
          <p:nvPr/>
        </p:nvSpPr>
        <p:spPr>
          <a:xfrm>
            <a:off x="1028700" y="1019175"/>
            <a:ext cx="5363319" cy="733425"/>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0" i="0" u="none" strike="noStrike" cap="none">
                <a:solidFill>
                  <a:srgbClr val="FFFFFF"/>
                </a:solidFill>
                <a:latin typeface="Asap"/>
                <a:ea typeface="Asap"/>
                <a:cs typeface="Asap"/>
                <a:sym typeface="Asap"/>
              </a:rPr>
              <a:t>Phân tích &amp; Thiết kế</a:t>
            </a:r>
            <a:endParaRPr/>
          </a:p>
        </p:txBody>
      </p:sp>
      <p:sp>
        <p:nvSpPr>
          <p:cNvPr id="373" name="Google Shape;373;p41"/>
          <p:cNvSpPr txBox="1"/>
          <p:nvPr/>
        </p:nvSpPr>
        <p:spPr>
          <a:xfrm>
            <a:off x="1028700" y="2125621"/>
            <a:ext cx="1641425" cy="419100"/>
          </a:xfrm>
          <a:prstGeom prst="rect">
            <a:avLst/>
          </a:prstGeom>
          <a:noFill/>
          <a:ln>
            <a:noFill/>
          </a:ln>
        </p:spPr>
        <p:txBody>
          <a:bodyPr spcFirstLastPara="1" wrap="square" lIns="0" tIns="0" rIns="0" bIns="0" anchor="t" anchorCtr="0">
            <a:spAutoFit/>
          </a:bodyPr>
          <a:lstStyle/>
          <a:p>
            <a:pPr marL="0" marR="0" lvl="0" indent="0" algn="ctr" rtl="0">
              <a:lnSpc>
                <a:spcPct val="120007"/>
              </a:lnSpc>
              <a:spcBef>
                <a:spcPts val="0"/>
              </a:spcBef>
              <a:spcAft>
                <a:spcPts val="0"/>
              </a:spcAft>
              <a:buNone/>
            </a:pPr>
            <a:r>
              <a:rPr lang="en-US" sz="2799" b="1" i="0" u="none" strike="noStrike" cap="none">
                <a:solidFill>
                  <a:srgbClr val="FFFFFF"/>
                </a:solidFill>
                <a:latin typeface="Arial"/>
                <a:ea typeface="Arial"/>
                <a:cs typeface="Arial"/>
                <a:sym typeface="Arial"/>
              </a:rPr>
              <a:t>Sơ đồ ERD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77"/>
        <p:cNvGrpSpPr/>
        <p:nvPr/>
      </p:nvGrpSpPr>
      <p:grpSpPr>
        <a:xfrm>
          <a:off x="0" y="0"/>
          <a:ext cx="0" cy="0"/>
          <a:chOff x="0" y="0"/>
          <a:chExt cx="0" cy="0"/>
        </a:xfrm>
      </p:grpSpPr>
      <p:sp>
        <p:nvSpPr>
          <p:cNvPr id="378" name="Google Shape;378;p42"/>
          <p:cNvSpPr txBox="1"/>
          <p:nvPr/>
        </p:nvSpPr>
        <p:spPr>
          <a:xfrm>
            <a:off x="8173801" y="1028700"/>
            <a:ext cx="7137300" cy="984900"/>
          </a:xfrm>
          <a:prstGeom prst="rect">
            <a:avLst/>
          </a:prstGeom>
          <a:noFill/>
          <a:ln>
            <a:noFill/>
          </a:ln>
        </p:spPr>
        <p:txBody>
          <a:bodyPr spcFirstLastPara="1" wrap="square" lIns="0" tIns="0" rIns="0" bIns="0" anchor="t" anchorCtr="0">
            <a:spAutoFit/>
          </a:bodyPr>
          <a:lstStyle/>
          <a:p>
            <a:pPr marL="0" marR="0" lvl="0" indent="0" algn="ctr" rtl="0">
              <a:lnSpc>
                <a:spcPct val="120003"/>
              </a:lnSpc>
              <a:spcBef>
                <a:spcPts val="0"/>
              </a:spcBef>
              <a:spcAft>
                <a:spcPts val="0"/>
              </a:spcAft>
              <a:buNone/>
            </a:pPr>
            <a:r>
              <a:rPr lang="en-US" sz="6399" b="1" i="0" u="none" strike="noStrike" cap="none">
                <a:solidFill>
                  <a:srgbClr val="FFFFFF"/>
                </a:solidFill>
                <a:latin typeface="Arial"/>
                <a:ea typeface="Arial"/>
                <a:cs typeface="Arial"/>
                <a:sym typeface="Arial"/>
              </a:rPr>
              <a:t>Mô hình hệ thống</a:t>
            </a:r>
            <a:endParaRPr/>
          </a:p>
        </p:txBody>
      </p:sp>
      <p:sp>
        <p:nvSpPr>
          <p:cNvPr id="379" name="Google Shape;379;p42"/>
          <p:cNvSpPr/>
          <p:nvPr/>
        </p:nvSpPr>
        <p:spPr>
          <a:xfrm>
            <a:off x="0" y="0"/>
            <a:ext cx="6115050" cy="10287000"/>
          </a:xfrm>
          <a:custGeom>
            <a:avLst/>
            <a:gdLst/>
            <a:ahLst/>
            <a:cxnLst/>
            <a:rect l="l" t="t" r="r" b="b"/>
            <a:pathLst>
              <a:path w="947381" h="1593725" extrusionOk="0">
                <a:moveTo>
                  <a:pt x="0" y="0"/>
                </a:moveTo>
                <a:lnTo>
                  <a:pt x="947381" y="0"/>
                </a:lnTo>
                <a:lnTo>
                  <a:pt x="947381" y="1593725"/>
                </a:lnTo>
                <a:lnTo>
                  <a:pt x="0" y="1593725"/>
                </a:lnTo>
                <a:close/>
              </a:path>
            </a:pathLst>
          </a:custGeom>
          <a:blipFill rotWithShape="1">
            <a:blip r:embed="rId3">
              <a:alphaModFix/>
            </a:blip>
            <a:stretch>
              <a:fillRect t="-56" b="-57"/>
            </a:stretch>
          </a:blipFill>
          <a:ln>
            <a:noFill/>
          </a:ln>
        </p:spPr>
        <p:txBody>
          <a:bodyPr/>
          <a:lstStyle/>
          <a:p>
            <a:endParaRPr lang="en-US"/>
          </a:p>
        </p:txBody>
      </p:sp>
      <p:sp>
        <p:nvSpPr>
          <p:cNvPr id="380" name="Google Shape;380;p42"/>
          <p:cNvSpPr txBox="1"/>
          <p:nvPr/>
        </p:nvSpPr>
        <p:spPr>
          <a:xfrm>
            <a:off x="8173793" y="4449421"/>
            <a:ext cx="8324850" cy="368499"/>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chemeClr val="lt1"/>
                </a:solidFill>
                <a:latin typeface="Arial"/>
                <a:ea typeface="Arial"/>
                <a:cs typeface="Arial"/>
                <a:sym typeface="Arial"/>
              </a:rPr>
              <a:t>Flutter chịu trách nhiệm cho giao diện người dùng.</a:t>
            </a:r>
            <a:endParaRPr/>
          </a:p>
        </p:txBody>
      </p:sp>
      <p:sp>
        <p:nvSpPr>
          <p:cNvPr id="381" name="Google Shape;381;p42"/>
          <p:cNvSpPr txBox="1"/>
          <p:nvPr/>
        </p:nvSpPr>
        <p:spPr>
          <a:xfrm>
            <a:off x="8173793" y="6240121"/>
            <a:ext cx="8324850" cy="368499"/>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chemeClr val="lt1"/>
                </a:solidFill>
                <a:latin typeface="Arial"/>
                <a:ea typeface="Arial"/>
                <a:cs typeface="Arial"/>
                <a:sym typeface="Arial"/>
              </a:rPr>
              <a:t>ASP.NET Core xử lý các yêu cầu API một cách hiệu quả.</a:t>
            </a:r>
            <a:endParaRPr/>
          </a:p>
        </p:txBody>
      </p:sp>
      <p:sp>
        <p:nvSpPr>
          <p:cNvPr id="382" name="Google Shape;382;p42"/>
          <p:cNvSpPr txBox="1"/>
          <p:nvPr/>
        </p:nvSpPr>
        <p:spPr>
          <a:xfrm>
            <a:off x="8173793" y="8030821"/>
            <a:ext cx="8324850" cy="368499"/>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chemeClr val="lt1"/>
                </a:solidFill>
                <a:latin typeface="Arial"/>
                <a:ea typeface="Arial"/>
                <a:cs typeface="Arial"/>
                <a:sym typeface="Arial"/>
              </a:rPr>
              <a:t>SQL Server lưu trữ dữ liệu</a:t>
            </a:r>
            <a:endParaRPr/>
          </a:p>
        </p:txBody>
      </p:sp>
      <p:sp>
        <p:nvSpPr>
          <p:cNvPr id="383" name="Google Shape;383;p42"/>
          <p:cNvSpPr txBox="1"/>
          <p:nvPr/>
        </p:nvSpPr>
        <p:spPr>
          <a:xfrm>
            <a:off x="6735518" y="4487521"/>
            <a:ext cx="1133475" cy="327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chemeClr val="lt1"/>
                </a:solidFill>
                <a:latin typeface="Arial"/>
                <a:ea typeface="Arial"/>
                <a:cs typeface="Arial"/>
                <a:sym typeface="Arial"/>
              </a:rPr>
              <a:t>01</a:t>
            </a:r>
            <a:endParaRPr/>
          </a:p>
        </p:txBody>
      </p:sp>
      <p:sp>
        <p:nvSpPr>
          <p:cNvPr id="384" name="Google Shape;384;p42"/>
          <p:cNvSpPr txBox="1"/>
          <p:nvPr/>
        </p:nvSpPr>
        <p:spPr>
          <a:xfrm>
            <a:off x="6735518" y="6278221"/>
            <a:ext cx="1133475" cy="327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chemeClr val="lt1"/>
                </a:solidFill>
                <a:latin typeface="Arial"/>
                <a:ea typeface="Arial"/>
                <a:cs typeface="Arial"/>
                <a:sym typeface="Arial"/>
              </a:rPr>
              <a:t>02</a:t>
            </a:r>
            <a:endParaRPr/>
          </a:p>
        </p:txBody>
      </p:sp>
      <p:sp>
        <p:nvSpPr>
          <p:cNvPr id="385" name="Google Shape;385;p42"/>
          <p:cNvSpPr txBox="1"/>
          <p:nvPr/>
        </p:nvSpPr>
        <p:spPr>
          <a:xfrm>
            <a:off x="6735518" y="8068921"/>
            <a:ext cx="1133475" cy="327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chemeClr val="lt1"/>
                </a:solidFill>
                <a:latin typeface="Arial"/>
                <a:ea typeface="Arial"/>
                <a:cs typeface="Arial"/>
                <a:sym typeface="Arial"/>
              </a:rPr>
              <a:t>03</a:t>
            </a:r>
            <a:endParaRPr/>
          </a:p>
        </p:txBody>
      </p:sp>
      <p:sp>
        <p:nvSpPr>
          <p:cNvPr id="386" name="Google Shape;386;p42"/>
          <p:cNvSpPr txBox="1"/>
          <p:nvPr/>
        </p:nvSpPr>
        <p:spPr>
          <a:xfrm>
            <a:off x="8173793" y="2793228"/>
            <a:ext cx="8324850" cy="368499"/>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chemeClr val="lt1"/>
                </a:solidFill>
                <a:latin typeface="Arial"/>
                <a:ea typeface="Arial"/>
                <a:cs typeface="Arial"/>
                <a:sym typeface="Arial"/>
              </a:rPr>
              <a:t>Mô hình hệ thống bao gồm ba tầng chính.</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grpSp>
        <p:nvGrpSpPr>
          <p:cNvPr id="391" name="Google Shape;391;p43"/>
          <p:cNvGrpSpPr/>
          <p:nvPr/>
        </p:nvGrpSpPr>
        <p:grpSpPr>
          <a:xfrm>
            <a:off x="3906613" y="1078706"/>
            <a:ext cx="9633054" cy="1913681"/>
            <a:chOff x="0" y="66675"/>
            <a:chExt cx="12844073" cy="2551575"/>
          </a:xfrm>
        </p:grpSpPr>
        <p:sp>
          <p:nvSpPr>
            <p:cNvPr id="392" name="Google Shape;392;p43"/>
            <p:cNvSpPr txBox="1"/>
            <p:nvPr/>
          </p:nvSpPr>
          <p:spPr>
            <a:xfrm>
              <a:off x="44416" y="66675"/>
              <a:ext cx="12799657" cy="1540722"/>
            </a:xfrm>
            <a:prstGeom prst="rect">
              <a:avLst/>
            </a:prstGeom>
            <a:noFill/>
            <a:ln>
              <a:noFill/>
            </a:ln>
          </p:spPr>
          <p:txBody>
            <a:bodyPr spcFirstLastPara="1" wrap="square" lIns="0" tIns="0" rIns="0" bIns="0" anchor="t" anchorCtr="0">
              <a:spAutoFit/>
            </a:bodyPr>
            <a:lstStyle/>
            <a:p>
              <a:pPr marL="0" marR="0" lvl="0" indent="0" algn="l" rtl="0">
                <a:lnSpc>
                  <a:spcPct val="109993"/>
                </a:lnSpc>
                <a:spcBef>
                  <a:spcPts val="0"/>
                </a:spcBef>
                <a:spcAft>
                  <a:spcPts val="0"/>
                </a:spcAft>
                <a:buNone/>
              </a:pPr>
              <a:r>
                <a:rPr lang="en-US" sz="7925" b="1" i="0" u="none" strike="noStrike" cap="none">
                  <a:solidFill>
                    <a:srgbClr val="1836B2"/>
                  </a:solidFill>
                  <a:latin typeface="Asap SemiBold"/>
                  <a:ea typeface="Asap SemiBold"/>
                  <a:cs typeface="Asap SemiBold"/>
                  <a:sym typeface="Asap SemiBold"/>
                </a:rPr>
                <a:t>Mục tiêu dự án</a:t>
              </a:r>
              <a:endParaRPr/>
            </a:p>
          </p:txBody>
        </p:sp>
        <p:sp>
          <p:nvSpPr>
            <p:cNvPr id="393" name="Google Shape;393;p43"/>
            <p:cNvSpPr txBox="1"/>
            <p:nvPr/>
          </p:nvSpPr>
          <p:spPr>
            <a:xfrm>
              <a:off x="0" y="2008016"/>
              <a:ext cx="12392971" cy="610234"/>
            </a:xfrm>
            <a:prstGeom prst="rect">
              <a:avLst/>
            </a:prstGeom>
            <a:noFill/>
            <a:ln>
              <a:noFill/>
            </a:ln>
          </p:spPr>
          <p:txBody>
            <a:bodyPr spcFirstLastPara="1" wrap="square" lIns="0" tIns="0" rIns="0" bIns="0" anchor="t" anchorCtr="0">
              <a:spAutoFit/>
            </a:bodyPr>
            <a:lstStyle/>
            <a:p>
              <a:pPr marL="0" marR="0" lvl="0" indent="0" algn="l" rtl="0">
                <a:lnSpc>
                  <a:spcPct val="200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4" name="Google Shape;394;p43"/>
          <p:cNvGrpSpPr/>
          <p:nvPr/>
        </p:nvGrpSpPr>
        <p:grpSpPr>
          <a:xfrm>
            <a:off x="1028700" y="4151427"/>
            <a:ext cx="4564038" cy="666167"/>
            <a:chOff x="0" y="0"/>
            <a:chExt cx="6085384" cy="888223"/>
          </a:xfrm>
        </p:grpSpPr>
        <p:sp>
          <p:nvSpPr>
            <p:cNvPr id="395" name="Google Shape;395;p43"/>
            <p:cNvSpPr/>
            <p:nvPr/>
          </p:nvSpPr>
          <p:spPr>
            <a:xfrm rot="10800000">
              <a:off x="0" y="0"/>
              <a:ext cx="6085384" cy="888223"/>
            </a:xfrm>
            <a:custGeom>
              <a:avLst/>
              <a:gdLst/>
              <a:ahLst/>
              <a:cxnLst/>
              <a:rect l="l" t="t" r="r" b="b"/>
              <a:pathLst>
                <a:path w="36805273" h="5372100" extrusionOk="0">
                  <a:moveTo>
                    <a:pt x="35254605" y="0"/>
                  </a:moveTo>
                  <a:lnTo>
                    <a:pt x="1550670" y="0"/>
                  </a:lnTo>
                  <a:lnTo>
                    <a:pt x="0" y="2686050"/>
                  </a:lnTo>
                  <a:lnTo>
                    <a:pt x="1550670" y="5372100"/>
                  </a:lnTo>
                  <a:lnTo>
                    <a:pt x="35254605" y="5372100"/>
                  </a:lnTo>
                  <a:lnTo>
                    <a:pt x="36805273" y="2686050"/>
                  </a:lnTo>
                  <a:lnTo>
                    <a:pt x="35254605" y="0"/>
                  </a:lnTo>
                  <a:close/>
                </a:path>
              </a:pathLst>
            </a:custGeom>
            <a:solidFill>
              <a:srgbClr val="A066CB"/>
            </a:solidFill>
            <a:ln>
              <a:noFill/>
            </a:ln>
          </p:spPr>
          <p:txBody>
            <a:bodyPr/>
            <a:lstStyle/>
            <a:p>
              <a:endParaRPr lang="en-US"/>
            </a:p>
          </p:txBody>
        </p:sp>
        <p:sp>
          <p:nvSpPr>
            <p:cNvPr id="396" name="Google Shape;396;p43"/>
            <p:cNvSpPr txBox="1"/>
            <p:nvPr/>
          </p:nvSpPr>
          <p:spPr>
            <a:xfrm>
              <a:off x="524930" y="174237"/>
              <a:ext cx="5035523" cy="5302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1" i="0" u="none" strike="noStrike" cap="none">
                  <a:solidFill>
                    <a:srgbClr val="FFFFFF"/>
                  </a:solidFill>
                  <a:latin typeface="Asap SemiBold"/>
                  <a:ea typeface="Asap SemiBold"/>
                  <a:cs typeface="Asap SemiBold"/>
                  <a:sym typeface="Asap SemiBold"/>
                </a:rPr>
                <a:t>Xây dựng ứng dụng</a:t>
              </a:r>
              <a:endParaRPr/>
            </a:p>
          </p:txBody>
        </p:sp>
      </p:grpSp>
      <p:sp>
        <p:nvSpPr>
          <p:cNvPr id="397" name="Google Shape;397;p43"/>
          <p:cNvSpPr txBox="1"/>
          <p:nvPr/>
        </p:nvSpPr>
        <p:spPr>
          <a:xfrm>
            <a:off x="1028700" y="5693736"/>
            <a:ext cx="4564038" cy="1851660"/>
          </a:xfrm>
          <a:prstGeom prst="rect">
            <a:avLst/>
          </a:prstGeom>
          <a:noFill/>
          <a:ln>
            <a:noFill/>
          </a:ln>
        </p:spPr>
        <p:txBody>
          <a:bodyPr spcFirstLastPara="1" wrap="square" lIns="0" tIns="0" rIns="0" bIns="0" anchor="t" anchorCtr="0">
            <a:spAutoFit/>
          </a:bodyPr>
          <a:lstStyle/>
          <a:p>
            <a:pPr marL="453390" marR="0" lvl="1" indent="-226695" algn="l" rtl="0">
              <a:lnSpc>
                <a:spcPct val="140000"/>
              </a:lnSpc>
              <a:spcBef>
                <a:spcPts val="0"/>
              </a:spcBef>
              <a:spcAft>
                <a:spcPts val="0"/>
              </a:spcAft>
              <a:buClr>
                <a:srgbClr val="000000"/>
              </a:buClr>
              <a:buSzPts val="2100"/>
              <a:buFont typeface="Arial"/>
              <a:buChar char="•"/>
            </a:pPr>
            <a:r>
              <a:rPr lang="en-US" sz="2100" b="0" i="0" u="none" strike="noStrike" cap="none">
                <a:solidFill>
                  <a:srgbClr val="000000"/>
                </a:solidFill>
                <a:latin typeface="Asap"/>
                <a:ea typeface="Asap"/>
                <a:cs typeface="Asap"/>
                <a:sym typeface="Asap"/>
              </a:rPr>
              <a:t>Dự án nhằm xây dựng một ứng dụng quản lý và điểm danh sinh viên, giúp tăng cường hiệu quả trong việc theo dõi hoạt động tại Khoa CNTT.</a:t>
            </a:r>
            <a:endParaRPr/>
          </a:p>
        </p:txBody>
      </p:sp>
      <p:sp>
        <p:nvSpPr>
          <p:cNvPr id="398" name="Google Shape;398;p43"/>
          <p:cNvSpPr txBox="1"/>
          <p:nvPr/>
        </p:nvSpPr>
        <p:spPr>
          <a:xfrm>
            <a:off x="6710909" y="5693736"/>
            <a:ext cx="4715110" cy="1480185"/>
          </a:xfrm>
          <a:prstGeom prst="rect">
            <a:avLst/>
          </a:prstGeom>
          <a:noFill/>
          <a:ln>
            <a:noFill/>
          </a:ln>
        </p:spPr>
        <p:txBody>
          <a:bodyPr spcFirstLastPara="1" wrap="square" lIns="0" tIns="0" rIns="0" bIns="0" anchor="t" anchorCtr="0">
            <a:spAutoFit/>
          </a:bodyPr>
          <a:lstStyle/>
          <a:p>
            <a:pPr marL="453390" marR="0" lvl="1" indent="-226695" algn="l" rtl="0">
              <a:lnSpc>
                <a:spcPct val="140000"/>
              </a:lnSpc>
              <a:spcBef>
                <a:spcPts val="0"/>
              </a:spcBef>
              <a:spcAft>
                <a:spcPts val="0"/>
              </a:spcAft>
              <a:buClr>
                <a:srgbClr val="000000"/>
              </a:buClr>
              <a:buSzPts val="2100"/>
              <a:buFont typeface="Arial"/>
              <a:buChar char="•"/>
            </a:pPr>
            <a:r>
              <a:rPr lang="en-US" sz="2100" b="0" i="0" u="none" strike="noStrike" cap="none">
                <a:solidFill>
                  <a:srgbClr val="000000"/>
                </a:solidFill>
                <a:latin typeface="Asap"/>
                <a:ea typeface="Asap"/>
                <a:cs typeface="Asap"/>
                <a:sym typeface="Asap"/>
              </a:rPr>
              <a:t>Ứng dụng công nghệ hiện đại như Flutter và ASP.NET Core sẽ đảm bảo khả năng mở rộng, bảo mật và tính năng thân thiện cho người dùng.</a:t>
            </a:r>
            <a:endParaRPr/>
          </a:p>
        </p:txBody>
      </p:sp>
      <p:grpSp>
        <p:nvGrpSpPr>
          <p:cNvPr id="399" name="Google Shape;399;p43"/>
          <p:cNvGrpSpPr/>
          <p:nvPr/>
        </p:nvGrpSpPr>
        <p:grpSpPr>
          <a:xfrm>
            <a:off x="6861981" y="4151427"/>
            <a:ext cx="4564038" cy="666167"/>
            <a:chOff x="0" y="0"/>
            <a:chExt cx="6085384" cy="888223"/>
          </a:xfrm>
        </p:grpSpPr>
        <p:sp>
          <p:nvSpPr>
            <p:cNvPr id="400" name="Google Shape;400;p43"/>
            <p:cNvSpPr/>
            <p:nvPr/>
          </p:nvSpPr>
          <p:spPr>
            <a:xfrm rot="10800000">
              <a:off x="0" y="0"/>
              <a:ext cx="6085384" cy="888223"/>
            </a:xfrm>
            <a:custGeom>
              <a:avLst/>
              <a:gdLst/>
              <a:ahLst/>
              <a:cxnLst/>
              <a:rect l="l" t="t" r="r" b="b"/>
              <a:pathLst>
                <a:path w="36805273" h="5372100" extrusionOk="0">
                  <a:moveTo>
                    <a:pt x="35254605" y="0"/>
                  </a:moveTo>
                  <a:lnTo>
                    <a:pt x="1550670" y="0"/>
                  </a:lnTo>
                  <a:lnTo>
                    <a:pt x="0" y="2686050"/>
                  </a:lnTo>
                  <a:lnTo>
                    <a:pt x="1550670" y="5372100"/>
                  </a:lnTo>
                  <a:lnTo>
                    <a:pt x="35254605" y="5372100"/>
                  </a:lnTo>
                  <a:lnTo>
                    <a:pt x="36805273" y="2686050"/>
                  </a:lnTo>
                  <a:lnTo>
                    <a:pt x="35254605" y="0"/>
                  </a:lnTo>
                  <a:close/>
                </a:path>
              </a:pathLst>
            </a:custGeom>
            <a:solidFill>
              <a:srgbClr val="A066CB"/>
            </a:solidFill>
            <a:ln>
              <a:noFill/>
            </a:ln>
          </p:spPr>
          <p:txBody>
            <a:bodyPr/>
            <a:lstStyle/>
            <a:p>
              <a:endParaRPr lang="en-US"/>
            </a:p>
          </p:txBody>
        </p:sp>
        <p:sp>
          <p:nvSpPr>
            <p:cNvPr id="401" name="Google Shape;401;p43"/>
            <p:cNvSpPr txBox="1"/>
            <p:nvPr/>
          </p:nvSpPr>
          <p:spPr>
            <a:xfrm>
              <a:off x="524930" y="174237"/>
              <a:ext cx="5035523" cy="5302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1" i="0" u="none" strike="noStrike" cap="none">
                  <a:solidFill>
                    <a:srgbClr val="FFFFFF"/>
                  </a:solidFill>
                  <a:latin typeface="Asap SemiBold"/>
                  <a:ea typeface="Asap SemiBold"/>
                  <a:cs typeface="Asap SemiBold"/>
                  <a:sym typeface="Asap SemiBold"/>
                </a:rPr>
                <a:t>Ứng dụng công nghệ</a:t>
              </a:r>
              <a:endParaRPr/>
            </a:p>
          </p:txBody>
        </p:sp>
      </p:grpSp>
      <p:grpSp>
        <p:nvGrpSpPr>
          <p:cNvPr id="402" name="Google Shape;402;p43"/>
          <p:cNvGrpSpPr/>
          <p:nvPr/>
        </p:nvGrpSpPr>
        <p:grpSpPr>
          <a:xfrm>
            <a:off x="12695262" y="4151427"/>
            <a:ext cx="4564038" cy="666167"/>
            <a:chOff x="0" y="0"/>
            <a:chExt cx="6085384" cy="888223"/>
          </a:xfrm>
        </p:grpSpPr>
        <p:sp>
          <p:nvSpPr>
            <p:cNvPr id="403" name="Google Shape;403;p43"/>
            <p:cNvSpPr/>
            <p:nvPr/>
          </p:nvSpPr>
          <p:spPr>
            <a:xfrm rot="10800000">
              <a:off x="0" y="0"/>
              <a:ext cx="6085384" cy="888223"/>
            </a:xfrm>
            <a:custGeom>
              <a:avLst/>
              <a:gdLst/>
              <a:ahLst/>
              <a:cxnLst/>
              <a:rect l="l" t="t" r="r" b="b"/>
              <a:pathLst>
                <a:path w="36805273" h="5372100" extrusionOk="0">
                  <a:moveTo>
                    <a:pt x="35254605" y="0"/>
                  </a:moveTo>
                  <a:lnTo>
                    <a:pt x="1550670" y="0"/>
                  </a:lnTo>
                  <a:lnTo>
                    <a:pt x="0" y="2686050"/>
                  </a:lnTo>
                  <a:lnTo>
                    <a:pt x="1550670" y="5372100"/>
                  </a:lnTo>
                  <a:lnTo>
                    <a:pt x="35254605" y="5372100"/>
                  </a:lnTo>
                  <a:lnTo>
                    <a:pt x="36805273" y="2686050"/>
                  </a:lnTo>
                  <a:lnTo>
                    <a:pt x="35254605" y="0"/>
                  </a:lnTo>
                  <a:close/>
                </a:path>
              </a:pathLst>
            </a:custGeom>
            <a:solidFill>
              <a:srgbClr val="A066CB"/>
            </a:solidFill>
            <a:ln>
              <a:noFill/>
            </a:ln>
          </p:spPr>
          <p:txBody>
            <a:bodyPr/>
            <a:lstStyle/>
            <a:p>
              <a:endParaRPr lang="en-US"/>
            </a:p>
          </p:txBody>
        </p:sp>
        <p:sp>
          <p:nvSpPr>
            <p:cNvPr id="404" name="Google Shape;404;p43"/>
            <p:cNvSpPr txBox="1"/>
            <p:nvPr/>
          </p:nvSpPr>
          <p:spPr>
            <a:xfrm>
              <a:off x="524930" y="174237"/>
              <a:ext cx="5035523" cy="5302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1" i="0" u="none" strike="noStrike" cap="none">
                  <a:solidFill>
                    <a:srgbClr val="FFFFFF"/>
                  </a:solidFill>
                  <a:latin typeface="Asap SemiBold"/>
                  <a:ea typeface="Asap SemiBold"/>
                  <a:cs typeface="Asap SemiBold"/>
                  <a:sym typeface="Asap SemiBold"/>
                </a:rPr>
                <a:t>Tăng cường quản lý</a:t>
              </a:r>
              <a:endParaRPr/>
            </a:p>
          </p:txBody>
        </p:sp>
      </p:grpSp>
      <p:sp>
        <p:nvSpPr>
          <p:cNvPr id="405" name="Google Shape;405;p43"/>
          <p:cNvSpPr txBox="1"/>
          <p:nvPr/>
        </p:nvSpPr>
        <p:spPr>
          <a:xfrm>
            <a:off x="12544190" y="5693736"/>
            <a:ext cx="4715110" cy="1851660"/>
          </a:xfrm>
          <a:prstGeom prst="rect">
            <a:avLst/>
          </a:prstGeom>
          <a:noFill/>
          <a:ln>
            <a:noFill/>
          </a:ln>
        </p:spPr>
        <p:txBody>
          <a:bodyPr spcFirstLastPara="1" wrap="square" lIns="0" tIns="0" rIns="0" bIns="0" anchor="t" anchorCtr="0">
            <a:spAutoFit/>
          </a:bodyPr>
          <a:lstStyle/>
          <a:p>
            <a:pPr marL="453390" marR="0" lvl="1" indent="-226695" algn="l" rtl="0">
              <a:lnSpc>
                <a:spcPct val="140000"/>
              </a:lnSpc>
              <a:spcBef>
                <a:spcPts val="0"/>
              </a:spcBef>
              <a:spcAft>
                <a:spcPts val="0"/>
              </a:spcAft>
              <a:buClr>
                <a:srgbClr val="000000"/>
              </a:buClr>
              <a:buSzPts val="2100"/>
              <a:buFont typeface="Arial"/>
              <a:buChar char="•"/>
            </a:pPr>
            <a:r>
              <a:rPr lang="en-US" sz="2100" b="0" i="0" u="none" strike="noStrike" cap="none">
                <a:solidFill>
                  <a:srgbClr val="000000"/>
                </a:solidFill>
                <a:latin typeface="Asap"/>
                <a:ea typeface="Asap"/>
                <a:cs typeface="Asap"/>
                <a:sym typeface="Asap"/>
              </a:rPr>
              <a:t>Hệ thống này sẽ giúp tăng cường quản lý hoạt động sinh viên, từ đó nâng cao chất lượng giáo dục và sự tham gia của sinh viên trong các hoạt động ngoại khóa.</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409"/>
        <p:cNvGrpSpPr/>
        <p:nvPr/>
      </p:nvGrpSpPr>
      <p:grpSpPr>
        <a:xfrm>
          <a:off x="0" y="0"/>
          <a:ext cx="0" cy="0"/>
          <a:chOff x="0" y="0"/>
          <a:chExt cx="0" cy="0"/>
        </a:xfrm>
      </p:grpSpPr>
      <p:cxnSp>
        <p:nvCxnSpPr>
          <p:cNvPr id="410" name="Google Shape;410;p44"/>
          <p:cNvCxnSpPr/>
          <p:nvPr/>
        </p:nvCxnSpPr>
        <p:spPr>
          <a:xfrm>
            <a:off x="0" y="676275"/>
            <a:ext cx="18288000" cy="0"/>
          </a:xfrm>
          <a:prstGeom prst="straightConnector1">
            <a:avLst/>
          </a:prstGeom>
          <a:noFill/>
          <a:ln w="19050" cap="flat" cmpd="sng">
            <a:solidFill>
              <a:srgbClr val="FFFFFF"/>
            </a:solidFill>
            <a:prstDash val="solid"/>
            <a:round/>
            <a:headEnd type="none" w="sm" len="sm"/>
            <a:tailEnd type="none" w="sm" len="sm"/>
          </a:ln>
        </p:spPr>
      </p:cxnSp>
      <p:cxnSp>
        <p:nvCxnSpPr>
          <p:cNvPr id="411" name="Google Shape;411;p44"/>
          <p:cNvCxnSpPr/>
          <p:nvPr/>
        </p:nvCxnSpPr>
        <p:spPr>
          <a:xfrm>
            <a:off x="0" y="9629775"/>
            <a:ext cx="18288000" cy="0"/>
          </a:xfrm>
          <a:prstGeom prst="straightConnector1">
            <a:avLst/>
          </a:prstGeom>
          <a:noFill/>
          <a:ln w="19050" cap="flat" cmpd="sng">
            <a:solidFill>
              <a:srgbClr val="FFFFFF"/>
            </a:solidFill>
            <a:prstDash val="solid"/>
            <a:round/>
            <a:headEnd type="none" w="sm" len="sm"/>
            <a:tailEnd type="none" w="sm" len="sm"/>
          </a:ln>
        </p:spPr>
      </p:cxnSp>
      <p:sp>
        <p:nvSpPr>
          <p:cNvPr id="412" name="Google Shape;412;p44"/>
          <p:cNvSpPr/>
          <p:nvPr/>
        </p:nvSpPr>
        <p:spPr>
          <a:xfrm>
            <a:off x="2758328" y="3792474"/>
            <a:ext cx="13485497" cy="5596481"/>
          </a:xfrm>
          <a:custGeom>
            <a:avLst/>
            <a:gdLst/>
            <a:ahLst/>
            <a:cxnLst/>
            <a:rect l="l" t="t" r="r" b="b"/>
            <a:pathLst>
              <a:path w="13485497" h="5596481" extrusionOk="0">
                <a:moveTo>
                  <a:pt x="0" y="0"/>
                </a:moveTo>
                <a:lnTo>
                  <a:pt x="13485497" y="0"/>
                </a:lnTo>
                <a:lnTo>
                  <a:pt x="13485497" y="5596481"/>
                </a:lnTo>
                <a:lnTo>
                  <a:pt x="0" y="5596481"/>
                </a:lnTo>
                <a:lnTo>
                  <a:pt x="0" y="0"/>
                </a:lnTo>
                <a:close/>
              </a:path>
            </a:pathLst>
          </a:custGeom>
          <a:blipFill rotWithShape="1">
            <a:blip r:embed="rId3">
              <a:alphaModFix/>
            </a:blip>
            <a:stretch>
              <a:fillRect/>
            </a:stretch>
          </a:blipFill>
          <a:ln>
            <a:noFill/>
          </a:ln>
        </p:spPr>
        <p:txBody>
          <a:bodyPr/>
          <a:lstStyle/>
          <a:p>
            <a:endParaRPr lang="en-US"/>
          </a:p>
        </p:txBody>
      </p:sp>
      <p:grpSp>
        <p:nvGrpSpPr>
          <p:cNvPr id="413" name="Google Shape;413;p44"/>
          <p:cNvGrpSpPr/>
          <p:nvPr/>
        </p:nvGrpSpPr>
        <p:grpSpPr>
          <a:xfrm>
            <a:off x="304800" y="2106549"/>
            <a:ext cx="10250561" cy="1358972"/>
            <a:chOff x="0" y="0"/>
            <a:chExt cx="13667414" cy="1811963"/>
          </a:xfrm>
        </p:grpSpPr>
        <p:sp>
          <p:nvSpPr>
            <p:cNvPr id="414" name="Google Shape;414;p44"/>
            <p:cNvSpPr txBox="1"/>
            <p:nvPr/>
          </p:nvSpPr>
          <p:spPr>
            <a:xfrm>
              <a:off x="0" y="0"/>
              <a:ext cx="13667414"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FFFFFF"/>
                  </a:solidFill>
                  <a:latin typeface="Arial"/>
                  <a:ea typeface="Arial"/>
                  <a:cs typeface="Arial"/>
                  <a:sym typeface="Arial"/>
                </a:rPr>
                <a:t>Bảng test case</a:t>
              </a:r>
              <a:endParaRPr/>
            </a:p>
          </p:txBody>
        </p:sp>
        <p:sp>
          <p:nvSpPr>
            <p:cNvPr id="415" name="Google Shape;415;p44"/>
            <p:cNvSpPr txBox="1"/>
            <p:nvPr/>
          </p:nvSpPr>
          <p:spPr>
            <a:xfrm>
              <a:off x="0" y="846763"/>
              <a:ext cx="13667414" cy="9652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FFFFFF"/>
                  </a:solidFill>
                  <a:latin typeface="Arial"/>
                  <a:ea typeface="Arial"/>
                  <a:cs typeface="Arial"/>
                  <a:sym typeface="Arial"/>
                </a:rPr>
                <a:t>Bảng mẫu test case sẽ bao gồm các tính năng, mô tả chi tiết, kết quả mong đợi và trạng thái của từng kiểm thử để theo dõi hiệu quả.</a:t>
              </a:r>
              <a:endParaRPr/>
            </a:p>
          </p:txBody>
        </p:sp>
      </p:grpSp>
      <p:grpSp>
        <p:nvGrpSpPr>
          <p:cNvPr id="416" name="Google Shape;416;p44"/>
          <p:cNvGrpSpPr/>
          <p:nvPr/>
        </p:nvGrpSpPr>
        <p:grpSpPr>
          <a:xfrm>
            <a:off x="304800" y="762000"/>
            <a:ext cx="11069378" cy="1357025"/>
            <a:chOff x="0" y="114300"/>
            <a:chExt cx="14759171" cy="1809367"/>
          </a:xfrm>
        </p:grpSpPr>
        <p:sp>
          <p:nvSpPr>
            <p:cNvPr id="417" name="Google Shape;417;p44"/>
            <p:cNvSpPr txBox="1"/>
            <p:nvPr/>
          </p:nvSpPr>
          <p:spPr>
            <a:xfrm>
              <a:off x="0" y="114300"/>
              <a:ext cx="14759171" cy="1159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267" b="0" i="0" u="none" strike="noStrike" cap="none">
                  <a:solidFill>
                    <a:srgbClr val="FFFFFF"/>
                  </a:solidFill>
                  <a:latin typeface="Play"/>
                  <a:ea typeface="Play"/>
                  <a:cs typeface="Play"/>
                  <a:sym typeface="Play"/>
                </a:rPr>
                <a:t>Kiểm thử</a:t>
              </a:r>
              <a:endParaRPr/>
            </a:p>
          </p:txBody>
        </p:sp>
        <p:sp>
          <p:nvSpPr>
            <p:cNvPr id="418" name="Google Shape;418;p44"/>
            <p:cNvSpPr txBox="1"/>
            <p:nvPr/>
          </p:nvSpPr>
          <p:spPr>
            <a:xfrm>
              <a:off x="0" y="1558834"/>
              <a:ext cx="14759171" cy="364833"/>
            </a:xfrm>
            <a:prstGeom prst="rect">
              <a:avLst/>
            </a:prstGeom>
            <a:noFill/>
            <a:ln>
              <a:noFill/>
            </a:ln>
          </p:spPr>
          <p:txBody>
            <a:bodyPr spcFirstLastPara="1" wrap="square" lIns="0" tIns="0" rIns="0" bIns="0" anchor="t" anchorCtr="0">
              <a:spAutoFit/>
            </a:bodyPr>
            <a:lstStyle/>
            <a:p>
              <a:pPr marL="0" marR="0" lvl="0" indent="0" algn="l" rtl="0">
                <a:lnSpc>
                  <a:spcPct val="121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5"/>
          <p:cNvSpPr/>
          <p:nvPr/>
        </p:nvSpPr>
        <p:spPr>
          <a:xfrm>
            <a:off x="-4584065" y="-2006328"/>
            <a:ext cx="13728065" cy="14299655"/>
          </a:xfrm>
          <a:custGeom>
            <a:avLst/>
            <a:gdLst/>
            <a:ahLst/>
            <a:cxnLst/>
            <a:rect l="l" t="t" r="r" b="b"/>
            <a:pathLst>
              <a:path w="5157365" h="5372100" extrusionOk="0">
                <a:moveTo>
                  <a:pt x="3606695" y="0"/>
                </a:moveTo>
                <a:lnTo>
                  <a:pt x="1550670" y="0"/>
                </a:lnTo>
                <a:lnTo>
                  <a:pt x="0" y="2686050"/>
                </a:lnTo>
                <a:lnTo>
                  <a:pt x="1550670" y="5372100"/>
                </a:lnTo>
                <a:lnTo>
                  <a:pt x="3606695" y="5372100"/>
                </a:lnTo>
                <a:lnTo>
                  <a:pt x="5157365" y="2686050"/>
                </a:lnTo>
                <a:lnTo>
                  <a:pt x="3606695" y="0"/>
                </a:lnTo>
                <a:close/>
              </a:path>
            </a:pathLst>
          </a:custGeom>
          <a:solidFill>
            <a:srgbClr val="1836B2"/>
          </a:solidFill>
          <a:ln>
            <a:noFill/>
          </a:ln>
        </p:spPr>
        <p:txBody>
          <a:bodyPr/>
          <a:lstStyle/>
          <a:p>
            <a:endParaRPr lang="en-US"/>
          </a:p>
        </p:txBody>
      </p:sp>
      <p:grpSp>
        <p:nvGrpSpPr>
          <p:cNvPr id="424" name="Google Shape;424;p45"/>
          <p:cNvGrpSpPr/>
          <p:nvPr/>
        </p:nvGrpSpPr>
        <p:grpSpPr>
          <a:xfrm>
            <a:off x="1028700" y="3413806"/>
            <a:ext cx="6335448" cy="3349837"/>
            <a:chOff x="0" y="-104775"/>
            <a:chExt cx="8447265" cy="4466449"/>
          </a:xfrm>
        </p:grpSpPr>
        <p:sp>
          <p:nvSpPr>
            <p:cNvPr id="425" name="Google Shape;425;p45"/>
            <p:cNvSpPr txBox="1"/>
            <p:nvPr/>
          </p:nvSpPr>
          <p:spPr>
            <a:xfrm>
              <a:off x="0" y="-104775"/>
              <a:ext cx="8447265" cy="3486319"/>
            </a:xfrm>
            <a:prstGeom prst="rect">
              <a:avLst/>
            </a:prstGeom>
            <a:noFill/>
            <a:ln>
              <a:noFill/>
            </a:ln>
          </p:spPr>
          <p:txBody>
            <a:bodyPr spcFirstLastPara="1" wrap="square" lIns="0" tIns="0" rIns="0" bIns="0" anchor="t" anchorCtr="0">
              <a:spAutoFit/>
            </a:bodyPr>
            <a:lstStyle/>
            <a:p>
              <a:pPr marL="0" marR="0" lvl="0" indent="0" algn="l" rtl="0">
                <a:lnSpc>
                  <a:spcPct val="132996"/>
                </a:lnSpc>
                <a:spcBef>
                  <a:spcPts val="0"/>
                </a:spcBef>
                <a:spcAft>
                  <a:spcPts val="0"/>
                </a:spcAft>
                <a:buNone/>
              </a:pPr>
              <a:r>
                <a:rPr lang="en-US" sz="7925" b="1" i="0" u="none" strike="noStrike" cap="none">
                  <a:solidFill>
                    <a:srgbClr val="FFFFFF"/>
                  </a:solidFill>
                  <a:latin typeface="Asap SemiBold"/>
                  <a:ea typeface="Asap SemiBold"/>
                  <a:cs typeface="Asap SemiBold"/>
                  <a:sym typeface="Asap SemiBold"/>
                </a:rPr>
                <a:t>Ràng buộc và Rủi ro</a:t>
              </a:r>
              <a:endParaRPr/>
            </a:p>
          </p:txBody>
        </p:sp>
        <p:sp>
          <p:nvSpPr>
            <p:cNvPr id="426" name="Google Shape;426;p45"/>
            <p:cNvSpPr txBox="1"/>
            <p:nvPr/>
          </p:nvSpPr>
          <p:spPr>
            <a:xfrm>
              <a:off x="0" y="3713975"/>
              <a:ext cx="7163168" cy="647699"/>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3000" b="1" i="0" u="none" strike="noStrike" cap="none">
                  <a:solidFill>
                    <a:srgbClr val="FFFFFF"/>
                  </a:solidFill>
                  <a:latin typeface="Asap Medium"/>
                  <a:ea typeface="Asap Medium"/>
                  <a:cs typeface="Asap Medium"/>
                  <a:sym typeface="Asap Medium"/>
                </a:rPr>
                <a:t>Các yếu tố ảnh hưởng đến dự án</a:t>
              </a:r>
              <a:endParaRPr/>
            </a:p>
          </p:txBody>
        </p:sp>
      </p:grpSp>
      <p:grpSp>
        <p:nvGrpSpPr>
          <p:cNvPr id="427" name="Google Shape;427;p45"/>
          <p:cNvGrpSpPr/>
          <p:nvPr/>
        </p:nvGrpSpPr>
        <p:grpSpPr>
          <a:xfrm>
            <a:off x="7995488" y="1012877"/>
            <a:ext cx="714076" cy="618457"/>
            <a:chOff x="0" y="0"/>
            <a:chExt cx="952102" cy="824609"/>
          </a:xfrm>
        </p:grpSpPr>
        <p:sp>
          <p:nvSpPr>
            <p:cNvPr id="428" name="Google Shape;428;p45"/>
            <p:cNvSpPr/>
            <p:nvPr/>
          </p:nvSpPr>
          <p:spPr>
            <a:xfrm rot="10800000">
              <a:off x="0" y="0"/>
              <a:ext cx="952102" cy="824609"/>
            </a:xfrm>
            <a:custGeom>
              <a:avLst/>
              <a:gdLst/>
              <a:ahLst/>
              <a:cxnLst/>
              <a:rect l="l" t="t" r="r" b="b"/>
              <a:pathLst>
                <a:path w="6202680" h="5372100" extrusionOk="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a:ln>
              <a:noFill/>
            </a:ln>
          </p:spPr>
          <p:txBody>
            <a:bodyPr/>
            <a:lstStyle/>
            <a:p>
              <a:endParaRPr lang="en-US"/>
            </a:p>
          </p:txBody>
        </p:sp>
        <p:sp>
          <p:nvSpPr>
            <p:cNvPr id="429" name="Google Shape;429;p45"/>
            <p:cNvSpPr txBox="1"/>
            <p:nvPr/>
          </p:nvSpPr>
          <p:spPr>
            <a:xfrm>
              <a:off x="209517" y="122424"/>
              <a:ext cx="533068" cy="522611"/>
            </a:xfrm>
            <a:prstGeom prst="rect">
              <a:avLst/>
            </a:prstGeom>
            <a:noFill/>
            <a:ln>
              <a:noFill/>
            </a:ln>
          </p:spPr>
          <p:txBody>
            <a:bodyPr spcFirstLastPara="1" wrap="square" lIns="0" tIns="0" rIns="0" bIns="0" anchor="t" anchorCtr="0">
              <a:spAutoFit/>
            </a:bodyPr>
            <a:lstStyle/>
            <a:p>
              <a:pPr marL="0" marR="0" lvl="0" indent="0" algn="ctr" rtl="0">
                <a:lnSpc>
                  <a:spcPct val="140017"/>
                </a:lnSpc>
                <a:spcBef>
                  <a:spcPts val="0"/>
                </a:spcBef>
                <a:spcAft>
                  <a:spcPts val="0"/>
                </a:spcAft>
                <a:buNone/>
              </a:pPr>
              <a:r>
                <a:rPr lang="en-US" sz="2314" b="1" i="0" u="none" strike="noStrike" cap="none">
                  <a:solidFill>
                    <a:srgbClr val="FFFFFF"/>
                  </a:solidFill>
                  <a:latin typeface="Asap Medium"/>
                  <a:ea typeface="Asap Medium"/>
                  <a:cs typeface="Asap Medium"/>
                  <a:sym typeface="Asap Medium"/>
                </a:rPr>
                <a:t>01</a:t>
              </a:r>
              <a:endParaRPr/>
            </a:p>
          </p:txBody>
        </p:sp>
      </p:grpSp>
      <p:grpSp>
        <p:nvGrpSpPr>
          <p:cNvPr id="430" name="Google Shape;430;p45"/>
          <p:cNvGrpSpPr/>
          <p:nvPr/>
        </p:nvGrpSpPr>
        <p:grpSpPr>
          <a:xfrm>
            <a:off x="13169529" y="4180701"/>
            <a:ext cx="714076" cy="618457"/>
            <a:chOff x="0" y="0"/>
            <a:chExt cx="952102" cy="824609"/>
          </a:xfrm>
        </p:grpSpPr>
        <p:sp>
          <p:nvSpPr>
            <p:cNvPr id="431" name="Google Shape;431;p45"/>
            <p:cNvSpPr/>
            <p:nvPr/>
          </p:nvSpPr>
          <p:spPr>
            <a:xfrm rot="10800000">
              <a:off x="0" y="0"/>
              <a:ext cx="952102" cy="824609"/>
            </a:xfrm>
            <a:custGeom>
              <a:avLst/>
              <a:gdLst/>
              <a:ahLst/>
              <a:cxnLst/>
              <a:rect l="l" t="t" r="r" b="b"/>
              <a:pathLst>
                <a:path w="6202680" h="5372100" extrusionOk="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a:ln>
              <a:noFill/>
            </a:ln>
          </p:spPr>
          <p:txBody>
            <a:bodyPr/>
            <a:lstStyle/>
            <a:p>
              <a:endParaRPr lang="en-US"/>
            </a:p>
          </p:txBody>
        </p:sp>
        <p:sp>
          <p:nvSpPr>
            <p:cNvPr id="432" name="Google Shape;432;p45"/>
            <p:cNvSpPr txBox="1"/>
            <p:nvPr/>
          </p:nvSpPr>
          <p:spPr>
            <a:xfrm>
              <a:off x="209517" y="122424"/>
              <a:ext cx="533068" cy="522611"/>
            </a:xfrm>
            <a:prstGeom prst="rect">
              <a:avLst/>
            </a:prstGeom>
            <a:noFill/>
            <a:ln>
              <a:noFill/>
            </a:ln>
          </p:spPr>
          <p:txBody>
            <a:bodyPr spcFirstLastPara="1" wrap="square" lIns="0" tIns="0" rIns="0" bIns="0" anchor="t" anchorCtr="0">
              <a:spAutoFit/>
            </a:bodyPr>
            <a:lstStyle/>
            <a:p>
              <a:pPr marL="0" marR="0" lvl="0" indent="0" algn="ctr" rtl="0">
                <a:lnSpc>
                  <a:spcPct val="140017"/>
                </a:lnSpc>
                <a:spcBef>
                  <a:spcPts val="0"/>
                </a:spcBef>
                <a:spcAft>
                  <a:spcPts val="0"/>
                </a:spcAft>
                <a:buNone/>
              </a:pPr>
              <a:r>
                <a:rPr lang="en-US" sz="2314" b="1" i="0" u="none" strike="noStrike" cap="none">
                  <a:solidFill>
                    <a:srgbClr val="FFFFFF"/>
                  </a:solidFill>
                  <a:latin typeface="Asap Medium"/>
                  <a:ea typeface="Asap Medium"/>
                  <a:cs typeface="Asap Medium"/>
                  <a:sym typeface="Asap Medium"/>
                </a:rPr>
                <a:t>02</a:t>
              </a:r>
              <a:endParaRPr/>
            </a:p>
          </p:txBody>
        </p:sp>
      </p:grpSp>
      <p:grpSp>
        <p:nvGrpSpPr>
          <p:cNvPr id="433" name="Google Shape;433;p45"/>
          <p:cNvGrpSpPr/>
          <p:nvPr/>
        </p:nvGrpSpPr>
        <p:grpSpPr>
          <a:xfrm>
            <a:off x="7995488" y="7004292"/>
            <a:ext cx="714076" cy="618457"/>
            <a:chOff x="0" y="0"/>
            <a:chExt cx="952102" cy="824609"/>
          </a:xfrm>
        </p:grpSpPr>
        <p:sp>
          <p:nvSpPr>
            <p:cNvPr id="434" name="Google Shape;434;p45"/>
            <p:cNvSpPr/>
            <p:nvPr/>
          </p:nvSpPr>
          <p:spPr>
            <a:xfrm rot="10800000">
              <a:off x="0" y="0"/>
              <a:ext cx="952102" cy="824609"/>
            </a:xfrm>
            <a:custGeom>
              <a:avLst/>
              <a:gdLst/>
              <a:ahLst/>
              <a:cxnLst/>
              <a:rect l="l" t="t" r="r" b="b"/>
              <a:pathLst>
                <a:path w="6202680" h="5372100" extrusionOk="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a:ln>
              <a:noFill/>
            </a:ln>
          </p:spPr>
          <p:txBody>
            <a:bodyPr/>
            <a:lstStyle/>
            <a:p>
              <a:endParaRPr lang="en-US"/>
            </a:p>
          </p:txBody>
        </p:sp>
        <p:sp>
          <p:nvSpPr>
            <p:cNvPr id="435" name="Google Shape;435;p45"/>
            <p:cNvSpPr txBox="1"/>
            <p:nvPr/>
          </p:nvSpPr>
          <p:spPr>
            <a:xfrm>
              <a:off x="209517" y="122424"/>
              <a:ext cx="533068" cy="522611"/>
            </a:xfrm>
            <a:prstGeom prst="rect">
              <a:avLst/>
            </a:prstGeom>
            <a:noFill/>
            <a:ln>
              <a:noFill/>
            </a:ln>
          </p:spPr>
          <p:txBody>
            <a:bodyPr spcFirstLastPara="1" wrap="square" lIns="0" tIns="0" rIns="0" bIns="0" anchor="t" anchorCtr="0">
              <a:spAutoFit/>
            </a:bodyPr>
            <a:lstStyle/>
            <a:p>
              <a:pPr marL="0" marR="0" lvl="0" indent="0" algn="ctr" rtl="0">
                <a:lnSpc>
                  <a:spcPct val="140017"/>
                </a:lnSpc>
                <a:spcBef>
                  <a:spcPts val="0"/>
                </a:spcBef>
                <a:spcAft>
                  <a:spcPts val="0"/>
                </a:spcAft>
                <a:buNone/>
              </a:pPr>
              <a:r>
                <a:rPr lang="en-US" sz="2314" b="1" i="0" u="none" strike="noStrike" cap="none">
                  <a:solidFill>
                    <a:srgbClr val="FFFFFF"/>
                  </a:solidFill>
                  <a:latin typeface="Asap Medium"/>
                  <a:ea typeface="Asap Medium"/>
                  <a:cs typeface="Asap Medium"/>
                  <a:sym typeface="Asap Medium"/>
                </a:rPr>
                <a:t>03</a:t>
              </a:r>
              <a:endParaRPr/>
            </a:p>
          </p:txBody>
        </p:sp>
      </p:grpSp>
      <p:grpSp>
        <p:nvGrpSpPr>
          <p:cNvPr id="436" name="Google Shape;436;p45"/>
          <p:cNvGrpSpPr/>
          <p:nvPr/>
        </p:nvGrpSpPr>
        <p:grpSpPr>
          <a:xfrm>
            <a:off x="8926795" y="1143097"/>
            <a:ext cx="4010025" cy="3140869"/>
            <a:chOff x="0" y="-9525"/>
            <a:chExt cx="5346700" cy="4187825"/>
          </a:xfrm>
        </p:grpSpPr>
        <p:sp>
          <p:nvSpPr>
            <p:cNvPr id="437" name="Google Shape;437;p45"/>
            <p:cNvSpPr txBox="1"/>
            <p:nvPr/>
          </p:nvSpPr>
          <p:spPr>
            <a:xfrm>
              <a:off x="0" y="-9525"/>
              <a:ext cx="5346700" cy="606425"/>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2999" b="1" i="0" u="none" strike="noStrike" cap="none">
                  <a:solidFill>
                    <a:srgbClr val="000000"/>
                  </a:solidFill>
                  <a:latin typeface="Arial"/>
                  <a:ea typeface="Arial"/>
                  <a:cs typeface="Arial"/>
                  <a:sym typeface="Arial"/>
                </a:rPr>
                <a:t>Nhân lực</a:t>
              </a:r>
              <a:endParaRPr/>
            </a:p>
          </p:txBody>
        </p:sp>
        <p:sp>
          <p:nvSpPr>
            <p:cNvPr id="438" name="Google Shape;438;p45"/>
            <p:cNvSpPr txBox="1"/>
            <p:nvPr/>
          </p:nvSpPr>
          <p:spPr>
            <a:xfrm>
              <a:off x="0" y="1282700"/>
              <a:ext cx="5346700" cy="28956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000000"/>
                  </a:solidFill>
                  <a:latin typeface="Arial"/>
                  <a:ea typeface="Arial"/>
                  <a:cs typeface="Arial"/>
                  <a:sym typeface="Arial"/>
                </a:rPr>
                <a:t>Dự án phụ thuộc vào sự có mặt và </a:t>
              </a:r>
              <a:r>
                <a:rPr lang="en-US" sz="2400" b="1" i="0" u="none" strike="noStrike" cap="none">
                  <a:solidFill>
                    <a:srgbClr val="000000"/>
                  </a:solidFill>
                  <a:latin typeface="Arial"/>
                  <a:ea typeface="Arial"/>
                  <a:cs typeface="Arial"/>
                  <a:sym typeface="Arial"/>
                </a:rPr>
                <a:t>khả năng</a:t>
              </a:r>
              <a:r>
                <a:rPr lang="en-US" sz="2400" b="0" i="0" u="none" strike="noStrike" cap="none">
                  <a:solidFill>
                    <a:srgbClr val="000000"/>
                  </a:solidFill>
                  <a:latin typeface="Arial"/>
                  <a:ea typeface="Arial"/>
                  <a:cs typeface="Arial"/>
                  <a:sym typeface="Arial"/>
                </a:rPr>
                <a:t> của các thành viên trong nhóm. Thiếu hụt nhân lực có thể </a:t>
              </a:r>
              <a:r>
                <a:rPr lang="en-US" sz="2400" b="1" i="0" u="none" strike="noStrike" cap="none">
                  <a:solidFill>
                    <a:srgbClr val="000000"/>
                  </a:solidFill>
                  <a:latin typeface="Arial"/>
                  <a:ea typeface="Arial"/>
                  <a:cs typeface="Arial"/>
                  <a:sym typeface="Arial"/>
                </a:rPr>
                <a:t>khiến tiến độ</a:t>
              </a:r>
              <a:r>
                <a:rPr lang="en-US" sz="2400" b="0" i="0" u="none" strike="noStrike" cap="none">
                  <a:solidFill>
                    <a:srgbClr val="000000"/>
                  </a:solidFill>
                  <a:latin typeface="Arial"/>
                  <a:ea typeface="Arial"/>
                  <a:cs typeface="Arial"/>
                  <a:sym typeface="Arial"/>
                </a:rPr>
                <a:t> bị trì hoãn hoặc chất lượng công việc bị ảnh hưởng.</a:t>
              </a:r>
              <a:endParaRPr/>
            </a:p>
          </p:txBody>
        </p:sp>
      </p:grpSp>
      <p:grpSp>
        <p:nvGrpSpPr>
          <p:cNvPr id="439" name="Google Shape;439;p45"/>
          <p:cNvGrpSpPr/>
          <p:nvPr/>
        </p:nvGrpSpPr>
        <p:grpSpPr>
          <a:xfrm>
            <a:off x="13883605" y="4283966"/>
            <a:ext cx="4010025" cy="3133725"/>
            <a:chOff x="0" y="0"/>
            <a:chExt cx="5346700" cy="4178300"/>
          </a:xfrm>
        </p:grpSpPr>
        <p:sp>
          <p:nvSpPr>
            <p:cNvPr id="440" name="Google Shape;440;p45"/>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000000"/>
                  </a:solidFill>
                  <a:latin typeface="Arial"/>
                  <a:ea typeface="Arial"/>
                  <a:cs typeface="Arial"/>
                  <a:sym typeface="Arial"/>
                </a:rPr>
                <a:t>Thời gian</a:t>
              </a:r>
              <a:endParaRPr/>
            </a:p>
          </p:txBody>
        </p:sp>
        <p:sp>
          <p:nvSpPr>
            <p:cNvPr id="441" name="Google Shape;441;p45"/>
            <p:cNvSpPr txBox="1"/>
            <p:nvPr/>
          </p:nvSpPr>
          <p:spPr>
            <a:xfrm>
              <a:off x="0" y="1282700"/>
              <a:ext cx="5346700" cy="28956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000000"/>
                  </a:solidFill>
                  <a:latin typeface="Arial"/>
                  <a:ea typeface="Arial"/>
                  <a:cs typeface="Arial"/>
                  <a:sym typeface="Arial"/>
                </a:rPr>
                <a:t>Việc thực hiện dự án trong </a:t>
              </a:r>
              <a:r>
                <a:rPr lang="en-US" sz="2400" b="1" i="0" u="none" strike="noStrike" cap="none">
                  <a:solidFill>
                    <a:srgbClr val="000000"/>
                  </a:solidFill>
                  <a:latin typeface="Arial"/>
                  <a:ea typeface="Arial"/>
                  <a:cs typeface="Arial"/>
                  <a:sym typeface="Arial"/>
                </a:rPr>
                <a:t>khung thời gian</a:t>
              </a:r>
              <a:r>
                <a:rPr lang="en-US" sz="2400" b="0" i="0" u="none" strike="noStrike" cap="none">
                  <a:solidFill>
                    <a:srgbClr val="000000"/>
                  </a:solidFill>
                  <a:latin typeface="Arial"/>
                  <a:ea typeface="Arial"/>
                  <a:cs typeface="Arial"/>
                  <a:sym typeface="Arial"/>
                </a:rPr>
                <a:t> cụ thể là rất quan trọng. Các sự kiện hoặc tình huống không lường trước có thể </a:t>
              </a:r>
              <a:r>
                <a:rPr lang="en-US" sz="2400" b="1" i="0" u="none" strike="noStrike" cap="none">
                  <a:solidFill>
                    <a:srgbClr val="000000"/>
                  </a:solidFill>
                  <a:latin typeface="Arial"/>
                  <a:ea typeface="Arial"/>
                  <a:cs typeface="Arial"/>
                  <a:sym typeface="Arial"/>
                </a:rPr>
                <a:t>gây ra trễ</a:t>
              </a:r>
              <a:r>
                <a:rPr lang="en-US" sz="2400" b="0" i="0" u="none" strike="noStrike" cap="none">
                  <a:solidFill>
                    <a:srgbClr val="000000"/>
                  </a:solidFill>
                  <a:latin typeface="Arial"/>
                  <a:ea typeface="Arial"/>
                  <a:cs typeface="Arial"/>
                  <a:sym typeface="Arial"/>
                </a:rPr>
                <a:t> và ảnh hưởng đến thời gian hoàn thành.</a:t>
              </a:r>
              <a:endParaRPr/>
            </a:p>
          </p:txBody>
        </p:sp>
      </p:grpSp>
      <p:grpSp>
        <p:nvGrpSpPr>
          <p:cNvPr id="442" name="Google Shape;442;p45"/>
          <p:cNvGrpSpPr/>
          <p:nvPr/>
        </p:nvGrpSpPr>
        <p:grpSpPr>
          <a:xfrm>
            <a:off x="8926795" y="7004292"/>
            <a:ext cx="4010025" cy="3105150"/>
            <a:chOff x="0" y="0"/>
            <a:chExt cx="5346700" cy="4140200"/>
          </a:xfrm>
        </p:grpSpPr>
        <p:sp>
          <p:nvSpPr>
            <p:cNvPr id="443" name="Google Shape;443;p45"/>
            <p:cNvSpPr txBox="1"/>
            <p:nvPr/>
          </p:nvSpPr>
          <p:spPr>
            <a:xfrm>
              <a:off x="0" y="0"/>
              <a:ext cx="5346700" cy="558800"/>
            </a:xfrm>
            <a:prstGeom prst="rect">
              <a:avLst/>
            </a:prstGeom>
            <a:noFill/>
            <a:ln>
              <a:noFill/>
            </a:ln>
          </p:spPr>
          <p:txBody>
            <a:bodyPr spcFirstLastPara="1" wrap="square" lIns="0" tIns="0" rIns="0" bIns="0" anchor="t" anchorCtr="0">
              <a:spAutoFit/>
            </a:bodyPr>
            <a:lstStyle/>
            <a:p>
              <a:pPr marL="0" marR="0" lvl="0" indent="0" algn="l" rtl="0">
                <a:lnSpc>
                  <a:spcPct val="120007"/>
                </a:lnSpc>
                <a:spcBef>
                  <a:spcPts val="0"/>
                </a:spcBef>
                <a:spcAft>
                  <a:spcPts val="0"/>
                </a:spcAft>
                <a:buNone/>
              </a:pPr>
              <a:r>
                <a:rPr lang="en-US" sz="2799" b="1" i="0" u="none" strike="noStrike" cap="none">
                  <a:solidFill>
                    <a:srgbClr val="000000"/>
                  </a:solidFill>
                  <a:latin typeface="Arial"/>
                  <a:ea typeface="Arial"/>
                  <a:cs typeface="Arial"/>
                  <a:sym typeface="Arial"/>
                </a:rPr>
                <a:t>Công nghệ</a:t>
              </a:r>
              <a:endParaRPr/>
            </a:p>
          </p:txBody>
        </p:sp>
        <p:sp>
          <p:nvSpPr>
            <p:cNvPr id="444" name="Google Shape;444;p45"/>
            <p:cNvSpPr txBox="1"/>
            <p:nvPr/>
          </p:nvSpPr>
          <p:spPr>
            <a:xfrm>
              <a:off x="0" y="1244600"/>
              <a:ext cx="5346700" cy="2895600"/>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0" i="0" u="none" strike="noStrike" cap="none">
                  <a:solidFill>
                    <a:srgbClr val="000000"/>
                  </a:solidFill>
                  <a:latin typeface="Arial"/>
                  <a:ea typeface="Arial"/>
                  <a:cs typeface="Arial"/>
                  <a:sym typeface="Arial"/>
                </a:rPr>
                <a:t>Sử dụng công nghệ mới như Flutter và ASP.NET Core có thể </a:t>
              </a:r>
              <a:r>
                <a:rPr lang="en-US" sz="2400" b="1" i="0" u="none" strike="noStrike" cap="none">
                  <a:solidFill>
                    <a:srgbClr val="000000"/>
                  </a:solidFill>
                  <a:latin typeface="Arial"/>
                  <a:ea typeface="Arial"/>
                  <a:cs typeface="Arial"/>
                  <a:sym typeface="Arial"/>
                </a:rPr>
                <a:t>mang lại lợi ích</a:t>
              </a:r>
              <a:r>
                <a:rPr lang="en-US" sz="2400" b="0" i="0" u="none" strike="noStrike" cap="none">
                  <a:solidFill>
                    <a:srgbClr val="000000"/>
                  </a:solidFill>
                  <a:latin typeface="Arial"/>
                  <a:ea typeface="Arial"/>
                  <a:cs typeface="Arial"/>
                  <a:sym typeface="Arial"/>
                </a:rPr>
                <a:t>, nhưng cũng có thể gây ra </a:t>
              </a:r>
              <a:r>
                <a:rPr lang="en-US" sz="2400" b="1" i="0" u="none" strike="noStrike" cap="none">
                  <a:solidFill>
                    <a:srgbClr val="000000"/>
                  </a:solidFill>
                  <a:latin typeface="Arial"/>
                  <a:ea typeface="Arial"/>
                  <a:cs typeface="Arial"/>
                  <a:sym typeface="Arial"/>
                </a:rPr>
                <a:t>rủi ro kỹ thuật</a:t>
              </a:r>
              <a:r>
                <a:rPr lang="en-US" sz="2400" b="0" i="0" u="none" strike="noStrike" cap="none">
                  <a:solidFill>
                    <a:srgbClr val="000000"/>
                  </a:solidFill>
                  <a:latin typeface="Arial"/>
                  <a:ea typeface="Arial"/>
                  <a:cs typeface="Arial"/>
                  <a:sym typeface="Arial"/>
                </a:rPr>
                <a:t> nếu không được triển khai đúng cách.</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46"/>
          <p:cNvSpPr/>
          <p:nvPr/>
        </p:nvSpPr>
        <p:spPr>
          <a:xfrm>
            <a:off x="10661646" y="0"/>
            <a:ext cx="10736190" cy="9297057"/>
          </a:xfrm>
          <a:custGeom>
            <a:avLst/>
            <a:gdLst/>
            <a:ahLst/>
            <a:cxnLst/>
            <a:rect l="l" t="t" r="r" b="b"/>
            <a:pathLst>
              <a:path w="4282440" h="3708400" extrusionOk="0">
                <a:moveTo>
                  <a:pt x="3211830" y="0"/>
                </a:moveTo>
                <a:lnTo>
                  <a:pt x="1070610" y="0"/>
                </a:lnTo>
                <a:lnTo>
                  <a:pt x="0" y="1854200"/>
                </a:lnTo>
                <a:lnTo>
                  <a:pt x="1070610" y="3708400"/>
                </a:lnTo>
                <a:lnTo>
                  <a:pt x="3211830" y="3708400"/>
                </a:lnTo>
                <a:lnTo>
                  <a:pt x="4282440" y="1854200"/>
                </a:lnTo>
                <a:close/>
              </a:path>
            </a:pathLst>
          </a:custGeom>
          <a:blipFill rotWithShape="1">
            <a:blip r:embed="rId3">
              <a:alphaModFix/>
            </a:blip>
            <a:stretch>
              <a:fillRect l="-37101" r="-37101"/>
            </a:stretch>
          </a:blipFill>
          <a:ln>
            <a:noFill/>
          </a:ln>
        </p:spPr>
        <p:txBody>
          <a:bodyPr/>
          <a:lstStyle/>
          <a:p>
            <a:endParaRPr lang="en-US"/>
          </a:p>
        </p:txBody>
      </p:sp>
      <p:sp>
        <p:nvSpPr>
          <p:cNvPr id="450" name="Google Shape;450;p46"/>
          <p:cNvSpPr/>
          <p:nvPr/>
        </p:nvSpPr>
        <p:spPr>
          <a:xfrm flipH="1">
            <a:off x="12015079" y="7254021"/>
            <a:ext cx="7156403" cy="4086071"/>
          </a:xfrm>
          <a:custGeom>
            <a:avLst/>
            <a:gdLst/>
            <a:ahLst/>
            <a:cxnLst/>
            <a:rect l="l" t="t" r="r" b="b"/>
            <a:pathLst>
              <a:path w="7156403" h="4086071" extrusionOk="0">
                <a:moveTo>
                  <a:pt x="7156403" y="0"/>
                </a:moveTo>
                <a:lnTo>
                  <a:pt x="0" y="0"/>
                </a:lnTo>
                <a:lnTo>
                  <a:pt x="0" y="4086071"/>
                </a:lnTo>
                <a:lnTo>
                  <a:pt x="7156403" y="4086071"/>
                </a:lnTo>
                <a:lnTo>
                  <a:pt x="7156403" y="0"/>
                </a:lnTo>
                <a:close/>
              </a:path>
            </a:pathLst>
          </a:custGeom>
          <a:blipFill rotWithShape="1">
            <a:blip r:embed="rId4">
              <a:alphaModFix/>
            </a:blip>
            <a:stretch>
              <a:fillRect t="-51572"/>
            </a:stretch>
          </a:blipFill>
          <a:ln>
            <a:noFill/>
          </a:ln>
        </p:spPr>
        <p:txBody>
          <a:bodyPr/>
          <a:lstStyle/>
          <a:p>
            <a:endParaRPr lang="en-US"/>
          </a:p>
        </p:txBody>
      </p:sp>
      <p:grpSp>
        <p:nvGrpSpPr>
          <p:cNvPr id="451" name="Google Shape;451;p46"/>
          <p:cNvGrpSpPr/>
          <p:nvPr/>
        </p:nvGrpSpPr>
        <p:grpSpPr>
          <a:xfrm>
            <a:off x="1028700" y="1021556"/>
            <a:ext cx="6178768" cy="2001530"/>
            <a:chOff x="0" y="-9525"/>
            <a:chExt cx="8238358" cy="2668707"/>
          </a:xfrm>
        </p:grpSpPr>
        <p:sp>
          <p:nvSpPr>
            <p:cNvPr id="452" name="Google Shape;452;p46"/>
            <p:cNvSpPr txBox="1"/>
            <p:nvPr/>
          </p:nvSpPr>
          <p:spPr>
            <a:xfrm>
              <a:off x="0" y="-9525"/>
              <a:ext cx="8238358" cy="1609005"/>
            </a:xfrm>
            <a:prstGeom prst="rect">
              <a:avLst/>
            </a:prstGeom>
            <a:noFill/>
            <a:ln>
              <a:noFill/>
            </a:ln>
          </p:spPr>
          <p:txBody>
            <a:bodyPr spcFirstLastPara="1" wrap="square" lIns="0" tIns="0" rIns="0" bIns="0" anchor="t" anchorCtr="0">
              <a:spAutoFit/>
            </a:bodyPr>
            <a:lstStyle/>
            <a:p>
              <a:pPr marL="0" marR="0" lvl="0" indent="0" algn="l" rtl="0">
                <a:lnSpc>
                  <a:spcPct val="120996"/>
                </a:lnSpc>
                <a:spcBef>
                  <a:spcPts val="0"/>
                </a:spcBef>
                <a:spcAft>
                  <a:spcPts val="0"/>
                </a:spcAft>
                <a:buNone/>
              </a:pPr>
              <a:r>
                <a:rPr lang="en-US" sz="7925" b="1" i="0" u="none" strike="noStrike" cap="none">
                  <a:solidFill>
                    <a:srgbClr val="000000"/>
                  </a:solidFill>
                  <a:latin typeface="Asap SemiBold"/>
                  <a:ea typeface="Asap SemiBold"/>
                  <a:cs typeface="Asap SemiBold"/>
                  <a:sym typeface="Asap SemiBold"/>
                </a:rPr>
                <a:t>Kết luận</a:t>
              </a:r>
              <a:endParaRPr/>
            </a:p>
          </p:txBody>
        </p:sp>
        <p:sp>
          <p:nvSpPr>
            <p:cNvPr id="453" name="Google Shape;453;p46"/>
            <p:cNvSpPr txBox="1"/>
            <p:nvPr/>
          </p:nvSpPr>
          <p:spPr>
            <a:xfrm>
              <a:off x="0" y="2011483"/>
              <a:ext cx="8238358" cy="647699"/>
            </a:xfrm>
            <a:prstGeom prst="rect">
              <a:avLst/>
            </a:prstGeom>
            <a:noFill/>
            <a:ln>
              <a:noFill/>
            </a:ln>
          </p:spPr>
          <p:txBody>
            <a:bodyPr spcFirstLastPara="1" wrap="square" lIns="0" tIns="0" rIns="0" bIns="0" anchor="t" anchorCtr="0">
              <a:spAutoFit/>
            </a:bodyPr>
            <a:lstStyle/>
            <a:p>
              <a:pPr marL="0" marR="0" lvl="0" indent="0" algn="l" rtl="0">
                <a:lnSpc>
                  <a:spcPct val="2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4" name="Google Shape;454;p46"/>
          <p:cNvSpPr txBox="1"/>
          <p:nvPr/>
        </p:nvSpPr>
        <p:spPr>
          <a:xfrm>
            <a:off x="1028700" y="3668088"/>
            <a:ext cx="9047722" cy="1846581"/>
          </a:xfrm>
          <a:prstGeom prst="rect">
            <a:avLst/>
          </a:prstGeom>
          <a:noFill/>
          <a:ln>
            <a:noFill/>
          </a:ln>
        </p:spPr>
        <p:txBody>
          <a:bodyPr spcFirstLastPara="1" wrap="square" lIns="0" tIns="0" rIns="0" bIns="0" anchor="t" anchorCtr="0">
            <a:spAutoFit/>
          </a:bodyPr>
          <a:lstStyle/>
          <a:p>
            <a:pPr marL="0" marR="0" lvl="0" indent="0" algn="l" rtl="0">
              <a:lnSpc>
                <a:spcPct val="140007"/>
              </a:lnSpc>
              <a:spcBef>
                <a:spcPts val="0"/>
              </a:spcBef>
              <a:spcAft>
                <a:spcPts val="0"/>
              </a:spcAft>
              <a:buNone/>
            </a:pPr>
            <a:r>
              <a:rPr lang="en-US" sz="5299" b="0" i="0" u="none" strike="noStrike" cap="none">
                <a:solidFill>
                  <a:srgbClr val="000000"/>
                </a:solidFill>
                <a:latin typeface="Asap"/>
                <a:ea typeface="Asap"/>
                <a:cs typeface="Asap"/>
                <a:sym typeface="Asap"/>
              </a:rPr>
              <a:t>Cảm ơn giảng viên và các bạn đã lắng nghe</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1526</Words>
  <Application>Microsoft Office PowerPoint</Application>
  <PresentationFormat>Custom</PresentationFormat>
  <Paragraphs>128</Paragraphs>
  <Slides>34</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Asap SemiBold</vt:lpstr>
      <vt:lpstr>Play</vt:lpstr>
      <vt:lpstr>Asap</vt:lpstr>
      <vt:lpstr>Noto Sans</vt:lpstr>
      <vt:lpstr>Calibri</vt:lpstr>
      <vt:lpstr>Asap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1</cp:revision>
  <dcterms:modified xsi:type="dcterms:W3CDTF">2025-12-06T14:12:30Z</dcterms:modified>
</cp:coreProperties>
</file>